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4237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B5FEF"/>
          </a:solidFill>
          <a:ln w="12700">
            <a:solidFill>
              <a:srgbClr val="5B5F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40" dirty="0">
                <a:solidFill>
                  <a:srgbClr val="6870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SMU AI TRAINING · TEAM PROJECT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909560" y="20116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1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대외활동·공모전 맞춤 추천 Agent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02920" y="658368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198A9"/>
                </a:solidFill>
              </a:rPr>
              <a:t>SMU_Agent_Project-fine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198A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198A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798"/>
            <a:ext cx="12191695" cy="6858000"/>
          </a:xfrm>
          <a:prstGeom prst="rect">
            <a:avLst/>
          </a:prstGeom>
          <a:solidFill>
            <a:srgbClr val="101426"/>
          </a:solidFill>
          <a:ln w="12700">
            <a:solidFill>
              <a:srgbClr val="1014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955280" y="-731520"/>
            <a:ext cx="4846320" cy="4846320"/>
          </a:xfrm>
          <a:prstGeom prst="ellipse">
            <a:avLst/>
          </a:prstGeom>
          <a:solidFill>
            <a:srgbClr val="242A58">
              <a:alpha val="90000"/>
            </a:srgbClr>
          </a:solidFill>
          <a:ln w="12700">
            <a:solidFill>
              <a:srgbClr val="242A5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326880" y="3566160"/>
            <a:ext cx="3383280" cy="3383280"/>
          </a:xfrm>
          <a:prstGeom prst="ellipse">
            <a:avLst/>
          </a:prstGeom>
          <a:solidFill>
            <a:srgbClr val="173F54">
              <a:alpha val="82000"/>
            </a:srgbClr>
          </a:solidFill>
          <a:ln w="12700">
            <a:solidFill>
              <a:srgbClr val="173F5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85800" y="65836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9DA7FF"/>
                </a:solidFill>
              </a:rPr>
              <a:t>SMU AI TRAINING · FINAL PRESENTATION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7223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대외활동·공모전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맞춤 추천 AI Agent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31520" y="3035808"/>
            <a:ext cx="6720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4CADB"/>
                </a:solidFill>
              </a:rPr>
              <a:t>분산된 공고 탐색부터 개인화 추천, 후기 분석까지 하나의 대화로 연결함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3840480"/>
            <a:ext cx="1188720" cy="320040"/>
          </a:xfrm>
          <a:prstGeom prst="roundRect">
            <a:avLst>
              <a:gd name="adj" fmla="val 22857"/>
            </a:avLst>
          </a:prstGeom>
          <a:solidFill>
            <a:srgbClr val="5B5FEF"/>
          </a:solidFill>
          <a:ln w="12700">
            <a:solidFill>
              <a:srgbClr val="5B5F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22960" y="38587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LANGCHAIN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57400" y="3840480"/>
            <a:ext cx="1143000" cy="320040"/>
          </a:xfrm>
          <a:prstGeom prst="roundRect">
            <a:avLst>
              <a:gd name="adj" fmla="val 22857"/>
            </a:avLst>
          </a:prstGeom>
          <a:solidFill>
            <a:srgbClr val="2D7FF9"/>
          </a:solidFill>
          <a:ln w="12700">
            <a:solidFill>
              <a:srgbClr val="2D7F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148840" y="385876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TAVILY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37560" y="3840480"/>
            <a:ext cx="1234440" cy="320040"/>
          </a:xfrm>
          <a:prstGeom prst="roundRect">
            <a:avLst>
              <a:gd name="adj" fmla="val 22857"/>
            </a:avLst>
          </a:prstGeom>
          <a:solidFill>
            <a:srgbClr val="37C99B"/>
          </a:solidFill>
          <a:ln w="12700">
            <a:solidFill>
              <a:srgbClr val="37C99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429000" y="385876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MIDDLEWARE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3840480"/>
            <a:ext cx="960120" cy="320040"/>
          </a:xfrm>
          <a:prstGeom prst="roundRect">
            <a:avLst>
              <a:gd name="adj" fmla="val 22857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800600" y="385876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SKILLS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1520" y="4709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19AB6"/>
                </a:solidFill>
              </a:rPr>
              <a:t>핵심 파일  agent.py  ·  tools.py  ·  middleware.py  ·  skill_runtime.py  ·  skills/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68512" y="135331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92E4EC"/>
                </a:solidFill>
              </a:rPr>
              <a:t>TEAM PROJECT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458200" y="2098548"/>
            <a:ext cx="2926080" cy="2103120"/>
          </a:xfrm>
          <a:prstGeom prst="roundRect">
            <a:avLst>
              <a:gd name="adj" fmla="val 4348"/>
            </a:avLst>
          </a:prstGeom>
          <a:solidFill>
            <a:srgbClr val="FFFFFF">
              <a:alpha val="8000"/>
            </a:srgbClr>
          </a:solidFill>
          <a:ln w="19050">
            <a:solidFill>
              <a:srgbClr val="6872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8851392" y="299008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2200" b="1" dirty="0" err="1">
                <a:solidFill>
                  <a:srgbClr val="FFFFFF"/>
                </a:solidFill>
              </a:rPr>
              <a:t>김규민</a:t>
            </a:r>
            <a:r>
              <a:rPr lang="en-US" altLang="ko-KR" sz="2200" b="1" dirty="0">
                <a:solidFill>
                  <a:srgbClr val="FFFFFF"/>
                </a:solidFill>
              </a:rPr>
              <a:t>	   </a:t>
            </a:r>
            <a:r>
              <a:rPr lang="ko-KR" altLang="en-US" sz="2200" b="1" dirty="0">
                <a:solidFill>
                  <a:srgbClr val="FFFFFF"/>
                </a:solidFill>
              </a:rPr>
              <a:t>최재영</a:t>
            </a:r>
            <a:endParaRPr lang="en-US" sz="2200" b="1" dirty="0">
              <a:solidFill>
                <a:srgbClr val="FFFFFF"/>
              </a:solidFill>
            </a:endParaRPr>
          </a:p>
          <a:p>
            <a:pPr marL="0" indent="0" algn="ctr">
              <a:buNone/>
            </a:pPr>
            <a:r>
              <a:rPr lang="ko-KR" altLang="en-US" sz="2200" b="1" dirty="0" err="1">
                <a:solidFill>
                  <a:srgbClr val="FFFFFF"/>
                </a:solidFill>
              </a:rPr>
              <a:t>김희재</a:t>
            </a:r>
            <a:r>
              <a:rPr lang="en-US" altLang="ko-KR" sz="2200" b="1" dirty="0">
                <a:solidFill>
                  <a:srgbClr val="FFFFFF"/>
                </a:solidFill>
              </a:rPr>
              <a:t>    </a:t>
            </a:r>
            <a:r>
              <a:rPr lang="ko-KR" altLang="en-US" sz="2200" b="1" dirty="0" err="1">
                <a:solidFill>
                  <a:srgbClr val="FFFFFF"/>
                </a:solidFill>
              </a:rPr>
              <a:t>김연지</a:t>
            </a:r>
            <a:endParaRPr lang="en-US" sz="2200" b="1" dirty="0">
              <a:solidFill>
                <a:srgbClr val="FFFFFF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8823960" y="318211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198A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9436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5B5FEF"/>
                </a:solidFill>
              </a:rPr>
              <a:t>01 · OVERVIEW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600" b="1" dirty="0">
                <a:solidFill>
                  <a:srgbClr val="151B33"/>
                </a:solidFill>
              </a:rPr>
              <a:t>발표 구성 흐름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" y="139903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938528"/>
            <a:ext cx="10789920" cy="566928"/>
          </a:xfrm>
          <a:prstGeom prst="roundRect">
            <a:avLst>
              <a:gd name="adj" fmla="val 8065"/>
            </a:avLst>
          </a:prstGeom>
          <a:solidFill>
            <a:srgbClr val="F0F2F8"/>
          </a:solidFill>
          <a:ln w="12700">
            <a:solidFill>
              <a:srgbClr val="E1E5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914400" y="204825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5FEF"/>
                </a:solidFill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54480" y="202996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1B33"/>
                </a:solidFill>
              </a:rPr>
              <a:t>에이전트 목적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840480" y="203911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dirty="0">
                <a:solidFill>
                  <a:srgbClr val="687086"/>
                </a:solidFill>
              </a:rPr>
              <a:t>왜 필요한가</a:t>
            </a:r>
            <a:r>
              <a:rPr lang="en-US" altLang="ko-KR" sz="1400" dirty="0">
                <a:solidFill>
                  <a:srgbClr val="687086"/>
                </a:solidFill>
              </a:rPr>
              <a:t>?  </a:t>
            </a:r>
            <a:r>
              <a:rPr lang="ko-KR" altLang="en-US" sz="1400" dirty="0">
                <a:solidFill>
                  <a:srgbClr val="687086"/>
                </a:solidFill>
              </a:rPr>
              <a:t>문제점 제시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2697480"/>
            <a:ext cx="107899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E1E5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914400" y="28072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7FF9"/>
                </a:solidFill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554480" y="2788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151B33"/>
                </a:solidFill>
              </a:rPr>
              <a:t>도구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840480" y="2798064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687086"/>
                </a:solidFill>
              </a:rPr>
              <a:t>활용</a:t>
            </a:r>
            <a:r>
              <a:rPr lang="en-US" sz="1400" dirty="0">
                <a:solidFill>
                  <a:srgbClr val="687086"/>
                </a:solidFill>
              </a:rPr>
              <a:t> </a:t>
            </a:r>
            <a:r>
              <a:rPr lang="en-US" sz="1400" dirty="0" err="1">
                <a:solidFill>
                  <a:srgbClr val="687086"/>
                </a:solidFill>
              </a:rPr>
              <a:t>목적·구현·Args·Returns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3456432"/>
            <a:ext cx="10789920" cy="566928"/>
          </a:xfrm>
          <a:prstGeom prst="roundRect">
            <a:avLst>
              <a:gd name="adj" fmla="val 8065"/>
            </a:avLst>
          </a:prstGeom>
          <a:solidFill>
            <a:srgbClr val="F0F2F8"/>
          </a:solidFill>
          <a:ln w="12700">
            <a:solidFill>
              <a:srgbClr val="E1E5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914400" y="3566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C99B"/>
                </a:solidFill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554480" y="354787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1B33"/>
                </a:solidFill>
              </a:rPr>
              <a:t>미들웨어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840480" y="3557016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dirty="0">
                <a:solidFill>
                  <a:srgbClr val="687086"/>
                </a:solidFill>
              </a:rPr>
              <a:t>도구 실행 사이에서 반복 작업을 자동처리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85800" y="4215384"/>
            <a:ext cx="107899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E1E5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914400" y="43251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6B"/>
                </a:solidFill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554480" y="430682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1B33"/>
                </a:solidFill>
              </a:rPr>
              <a:t>스킬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840480" y="431596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dirty="0">
                <a:solidFill>
                  <a:srgbClr val="687086"/>
                </a:solidFill>
              </a:rPr>
              <a:t>어떤 도구를 어떤 순서로 실행할까</a:t>
            </a:r>
            <a:r>
              <a:rPr lang="en-US" altLang="ko-KR" sz="1400" dirty="0">
                <a:solidFill>
                  <a:srgbClr val="687086"/>
                </a:solidFill>
              </a:rPr>
              <a:t>?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85800" y="4974336"/>
            <a:ext cx="10789920" cy="566928"/>
          </a:xfrm>
          <a:prstGeom prst="roundRect">
            <a:avLst>
              <a:gd name="adj" fmla="val 8065"/>
            </a:avLst>
          </a:prstGeom>
          <a:solidFill>
            <a:srgbClr val="F0F2F8"/>
          </a:solidFill>
          <a:ln w="12700">
            <a:solidFill>
              <a:srgbClr val="E1E5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914400" y="50840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524"/>
                </a:solidFill>
              </a:rPr>
              <a:t>05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554480" y="506577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1B33"/>
                </a:solidFill>
              </a:rPr>
              <a:t>실시간 테스트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840480" y="507492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87086"/>
                </a:solidFill>
              </a:rPr>
              <a:t>LangGraph Studio </a:t>
            </a:r>
            <a:r>
              <a:rPr lang="en-US" sz="1400" dirty="0" err="1">
                <a:solidFill>
                  <a:srgbClr val="687086"/>
                </a:solidFill>
              </a:rPr>
              <a:t>질문</a:t>
            </a:r>
            <a:r>
              <a:rPr lang="en-US" sz="1400" dirty="0">
                <a:solidFill>
                  <a:srgbClr val="687086"/>
                </a:solidFill>
              </a:rPr>
              <a:t> 6가지 </a:t>
            </a:r>
            <a:r>
              <a:rPr lang="ko-KR" altLang="en-US" sz="1400" dirty="0">
                <a:solidFill>
                  <a:srgbClr val="687086"/>
                </a:solidFill>
              </a:rPr>
              <a:t>테스트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198A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9436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5B5FEF"/>
                </a:solidFill>
              </a:rPr>
              <a:t>02 · AGENT PURPOSE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1B33"/>
                </a:solidFill>
              </a:rPr>
              <a:t>탐색 비용을 줄이고 “지원 가능한 공고”를 빠르게 찾음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" y="139903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87086"/>
                </a:solidFill>
              </a:rPr>
              <a:t>정보 파편화와 개인화 부족을 하나의 에이전트 흐름으로 해결함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3832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1EA"/>
            </a:solidFill>
            <a:prstDash val="solid"/>
          </a:ln>
          <a:effectLst>
            <a:outerShdw blurRad="12700" dist="50800" dir="2700000" algn="bl" rotWithShape="0">
              <a:srgbClr val="B7BDCC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64008" cy="196596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68680" y="208483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51B33"/>
                </a:solidFill>
              </a:rPr>
              <a:t>문제 1 · 정보 파편화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2450592"/>
            <a:ext cx="2944368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20263A"/>
                </a:solidFill>
              </a:rPr>
              <a:t>링커리어·캠퍼스픽·위비티·콘테스트코리아 등 여러 </a:t>
            </a:r>
            <a:r>
              <a:rPr lang="en-US" sz="1400" dirty="0" err="1">
                <a:solidFill>
                  <a:srgbClr val="20263A"/>
                </a:solidFill>
              </a:rPr>
              <a:t>사이트를</a:t>
            </a:r>
            <a:r>
              <a:rPr lang="en-US" sz="1400" dirty="0">
                <a:solidFill>
                  <a:srgbClr val="20263A"/>
                </a:solidFill>
              </a:rPr>
              <a:t> </a:t>
            </a:r>
          </a:p>
          <a:p>
            <a:r>
              <a:rPr lang="en-US" sz="1400" dirty="0" err="1">
                <a:solidFill>
                  <a:srgbClr val="20263A"/>
                </a:solidFill>
              </a:rPr>
              <a:t>반복</a:t>
            </a:r>
            <a:r>
              <a:rPr lang="en-US" sz="1400" dirty="0">
                <a:solidFill>
                  <a:srgbClr val="20263A"/>
                </a:solidFill>
              </a:rPr>
              <a:t> </a:t>
            </a:r>
            <a:r>
              <a:rPr lang="en-US" sz="1400" dirty="0" err="1">
                <a:solidFill>
                  <a:srgbClr val="20263A"/>
                </a:solidFill>
              </a:rPr>
              <a:t>방문해야</a:t>
            </a:r>
            <a:r>
              <a:rPr lang="en-US" sz="1400" dirty="0">
                <a:solidFill>
                  <a:srgbClr val="20263A"/>
                </a:solidFill>
              </a:rPr>
              <a:t> 함</a:t>
            </a:r>
            <a:endParaRPr lang="en-US" sz="1400" dirty="0"/>
          </a:p>
          <a:p>
            <a:endParaRPr lang="en-US" sz="1400" dirty="0">
              <a:sym typeface="Wingdings" panose="05000000000000000000" pitchFamily="2" charset="2"/>
            </a:endParaRPr>
          </a:p>
          <a:p>
            <a:r>
              <a:rPr lang="en-US" sz="1400" dirty="0">
                <a:sym typeface="Wingdings" panose="05000000000000000000" pitchFamily="2" charset="2"/>
              </a:rPr>
              <a:t> </a:t>
            </a:r>
            <a:r>
              <a:rPr lang="ko-KR" altLang="en-US" sz="1400" dirty="0">
                <a:sym typeface="Wingdings" panose="05000000000000000000" pitchFamily="2" charset="2"/>
              </a:rPr>
              <a:t>반복 작업이 필요함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89120" y="1920240"/>
            <a:ext cx="33832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1EA"/>
            </a:solidFill>
            <a:prstDash val="solid"/>
          </a:ln>
          <a:effectLst>
            <a:outerShdw blurRad="12700" dist="50800" dir="2700000" algn="bl" rotWithShape="0">
              <a:srgbClr val="B7BDCC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389120" y="1920240"/>
            <a:ext cx="64008" cy="1965960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617720" y="208483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51B33"/>
                </a:solidFill>
              </a:rPr>
              <a:t>문제 2 · 개인화 한계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17720" y="2450592"/>
            <a:ext cx="2944368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20263A"/>
                </a:solidFill>
              </a:rPr>
              <a:t>직무·관심 분야·지역·선호 혜택을 함께 </a:t>
            </a:r>
            <a:r>
              <a:rPr lang="en-US" sz="1400" dirty="0" err="1">
                <a:solidFill>
                  <a:srgbClr val="20263A"/>
                </a:solidFill>
              </a:rPr>
              <a:t>반영하기</a:t>
            </a:r>
            <a:r>
              <a:rPr lang="en-US" sz="1400" dirty="0">
                <a:solidFill>
                  <a:srgbClr val="20263A"/>
                </a:solidFill>
              </a:rPr>
              <a:t> </a:t>
            </a:r>
            <a:r>
              <a:rPr lang="en-US" sz="1400" dirty="0" err="1">
                <a:solidFill>
                  <a:srgbClr val="20263A"/>
                </a:solidFill>
              </a:rPr>
              <a:t>어려움</a:t>
            </a:r>
            <a:endParaRPr lang="en-US" sz="1400" dirty="0">
              <a:solidFill>
                <a:srgbClr val="20263A"/>
              </a:solidFill>
            </a:endParaRPr>
          </a:p>
          <a:p>
            <a:endParaRPr lang="en-US" sz="1400" dirty="0"/>
          </a:p>
          <a:p>
            <a:r>
              <a:rPr lang="en-US" sz="1400" dirty="0">
                <a:solidFill>
                  <a:srgbClr val="20263A"/>
                </a:solidFill>
              </a:rPr>
              <a:t>후기·면접 팁까지 </a:t>
            </a:r>
            <a:r>
              <a:rPr lang="en-US" sz="1400" dirty="0" err="1">
                <a:solidFill>
                  <a:srgbClr val="20263A"/>
                </a:solidFill>
              </a:rPr>
              <a:t>연결된</a:t>
            </a:r>
            <a:r>
              <a:rPr lang="en-US" sz="1400" dirty="0">
                <a:solidFill>
                  <a:srgbClr val="20263A"/>
                </a:solidFill>
              </a:rPr>
              <a:t> </a:t>
            </a:r>
            <a:r>
              <a:rPr lang="en-US" sz="1400" dirty="0" err="1">
                <a:solidFill>
                  <a:srgbClr val="20263A"/>
                </a:solidFill>
              </a:rPr>
              <a:t>정보</a:t>
            </a:r>
            <a:r>
              <a:rPr lang="en-US" sz="1400" dirty="0">
                <a:solidFill>
                  <a:srgbClr val="20263A"/>
                </a:solidFill>
              </a:rPr>
              <a:t> </a:t>
            </a:r>
            <a:r>
              <a:rPr lang="en-US" sz="1400" dirty="0" err="1">
                <a:solidFill>
                  <a:srgbClr val="20263A"/>
                </a:solidFill>
              </a:rPr>
              <a:t>부족</a:t>
            </a:r>
            <a:br>
              <a:rPr lang="en-US" sz="1400" dirty="0">
                <a:solidFill>
                  <a:srgbClr val="20263A"/>
                </a:solidFill>
              </a:rPr>
            </a:br>
            <a:br>
              <a:rPr lang="en-US" sz="1400" dirty="0">
                <a:solidFill>
                  <a:srgbClr val="20263A"/>
                </a:solidFill>
              </a:rPr>
            </a:br>
            <a:r>
              <a:rPr lang="en-US" sz="1400" dirty="0">
                <a:solidFill>
                  <a:srgbClr val="20263A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400" dirty="0">
                <a:solidFill>
                  <a:srgbClr val="20263A"/>
                </a:solidFill>
                <a:sym typeface="Wingdings" panose="05000000000000000000" pitchFamily="2" charset="2"/>
              </a:rPr>
              <a:t>맞춤 정보 탐색이 어려움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38160" y="1920240"/>
            <a:ext cx="33832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1EA"/>
            </a:solidFill>
            <a:prstDash val="solid"/>
          </a:ln>
          <a:effectLst>
            <a:outerShdw blurRad="12700" dist="50800" dir="2700000" algn="bl" rotWithShape="0">
              <a:srgbClr val="B7BDCC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8138160" y="1920240"/>
            <a:ext cx="64008" cy="1965960"/>
          </a:xfrm>
          <a:prstGeom prst="rect">
            <a:avLst/>
          </a:prstGeom>
          <a:solidFill>
            <a:srgbClr val="37C99B"/>
          </a:solidFill>
          <a:ln w="12700">
            <a:solidFill>
              <a:srgbClr val="37C99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366760" y="208483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000" b="1" dirty="0">
                <a:solidFill>
                  <a:srgbClr val="151B33"/>
                </a:solidFill>
              </a:rPr>
              <a:t>솔루션 </a:t>
            </a:r>
            <a:r>
              <a:rPr lang="en-US" altLang="ko-KR" sz="2000" b="1" dirty="0">
                <a:solidFill>
                  <a:srgbClr val="151B33"/>
                </a:solidFill>
              </a:rPr>
              <a:t>:</a:t>
            </a:r>
            <a:r>
              <a:rPr lang="en-US" sz="2000" b="1" dirty="0">
                <a:solidFill>
                  <a:srgbClr val="151B33"/>
                </a:solidFill>
              </a:rPr>
              <a:t> 대화형 Agent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366760" y="2450592"/>
            <a:ext cx="2944368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 err="1">
                <a:solidFill>
                  <a:srgbClr val="20263A"/>
                </a:solidFill>
              </a:rPr>
              <a:t>실시간</a:t>
            </a:r>
            <a:r>
              <a:rPr lang="en-US" sz="1400" dirty="0">
                <a:solidFill>
                  <a:srgbClr val="20263A"/>
                </a:solidFill>
              </a:rPr>
              <a:t> </a:t>
            </a:r>
            <a:r>
              <a:rPr lang="ko-KR" altLang="en-US" sz="1400" dirty="0">
                <a:solidFill>
                  <a:srgbClr val="20263A"/>
                </a:solidFill>
              </a:rPr>
              <a:t>웹 </a:t>
            </a:r>
            <a:r>
              <a:rPr lang="en-US" sz="1400" dirty="0" err="1">
                <a:solidFill>
                  <a:srgbClr val="20263A"/>
                </a:solidFill>
              </a:rPr>
              <a:t>검색</a:t>
            </a:r>
            <a:r>
              <a:rPr lang="en-US" sz="1400" dirty="0">
                <a:solidFill>
                  <a:srgbClr val="20263A"/>
                </a:solidFill>
              </a:rPr>
              <a:t> + </a:t>
            </a:r>
            <a:r>
              <a:rPr lang="en-US" sz="1400" dirty="0" err="1">
                <a:solidFill>
                  <a:srgbClr val="20263A"/>
                </a:solidFill>
              </a:rPr>
              <a:t>조건</a:t>
            </a:r>
            <a:r>
              <a:rPr lang="ko-KR" altLang="en-US" sz="1400" dirty="0">
                <a:solidFill>
                  <a:srgbClr val="20263A"/>
                </a:solidFill>
              </a:rPr>
              <a:t>부</a:t>
            </a:r>
            <a:r>
              <a:rPr lang="en-US" sz="1400" dirty="0">
                <a:solidFill>
                  <a:srgbClr val="20263A"/>
                </a:solidFill>
              </a:rPr>
              <a:t> 필터링 + </a:t>
            </a:r>
            <a:r>
              <a:rPr lang="en-US" sz="1400" dirty="0" err="1">
                <a:solidFill>
                  <a:srgbClr val="20263A"/>
                </a:solidFill>
              </a:rPr>
              <a:t>매칭</a:t>
            </a:r>
            <a:r>
              <a:rPr lang="en-US" sz="1400" dirty="0">
                <a:solidFill>
                  <a:srgbClr val="20263A"/>
                </a:solidFill>
              </a:rPr>
              <a:t> </a:t>
            </a:r>
            <a:r>
              <a:rPr lang="en-US" sz="1400" dirty="0" err="1">
                <a:solidFill>
                  <a:srgbClr val="20263A"/>
                </a:solidFill>
              </a:rPr>
              <a:t>추천</a:t>
            </a:r>
            <a:br>
              <a:rPr lang="en-US" sz="1400" dirty="0">
                <a:solidFill>
                  <a:srgbClr val="20263A"/>
                </a:solidFill>
              </a:rPr>
            </a:br>
            <a:endParaRPr lang="en-US" sz="1400" dirty="0"/>
          </a:p>
          <a:p>
            <a:r>
              <a:rPr lang="en-US" sz="1400" dirty="0">
                <a:solidFill>
                  <a:srgbClr val="20263A"/>
                </a:solidFill>
              </a:rPr>
              <a:t>원본 URL·근거·검증 상태를 </a:t>
            </a:r>
            <a:r>
              <a:rPr lang="en-US" sz="1400" dirty="0" err="1">
                <a:solidFill>
                  <a:srgbClr val="20263A"/>
                </a:solidFill>
              </a:rPr>
              <a:t>함께</a:t>
            </a:r>
            <a:r>
              <a:rPr lang="en-US" sz="1400" dirty="0">
                <a:solidFill>
                  <a:srgbClr val="20263A"/>
                </a:solidFill>
              </a:rPr>
              <a:t> </a:t>
            </a:r>
            <a:r>
              <a:rPr lang="en-US" sz="1400" dirty="0" err="1">
                <a:solidFill>
                  <a:srgbClr val="20263A"/>
                </a:solidFill>
              </a:rPr>
              <a:t>제시</a:t>
            </a:r>
            <a:endParaRPr lang="en-US" sz="1400" dirty="0">
              <a:solidFill>
                <a:srgbClr val="20263A"/>
              </a:solidFill>
            </a:endParaRPr>
          </a:p>
          <a:p>
            <a:endParaRPr lang="en-US" sz="1400" dirty="0">
              <a:solidFill>
                <a:srgbClr val="20263A"/>
              </a:solidFill>
            </a:endParaRPr>
          </a:p>
          <a:p>
            <a:r>
              <a:rPr lang="en-US" sz="1400" dirty="0">
                <a:solidFill>
                  <a:srgbClr val="20263A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400" dirty="0">
                <a:solidFill>
                  <a:srgbClr val="20263A"/>
                </a:solidFill>
                <a:sym typeface="Wingdings" panose="05000000000000000000" pitchFamily="2" charset="2"/>
              </a:rPr>
              <a:t>자동화 및 검증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434340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151B33"/>
          </a:solidFill>
          <a:ln w="12700">
            <a:solidFill>
              <a:srgbClr val="151B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914400" y="45537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9DA7FF"/>
                </a:solidFill>
              </a:rPr>
              <a:t>핵심 </a:t>
            </a:r>
            <a:r>
              <a:rPr lang="en-US" altLang="ko-KR" sz="1300" b="1" dirty="0">
                <a:solidFill>
                  <a:srgbClr val="9DA7FF"/>
                </a:solidFill>
              </a:rPr>
              <a:t>FLOW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286000" y="4663005"/>
            <a:ext cx="8732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800" b="1" dirty="0">
                <a:solidFill>
                  <a:srgbClr val="FFFFFF"/>
                </a:solidFill>
              </a:rPr>
              <a:t>사용자 요청 </a:t>
            </a:r>
            <a:r>
              <a:rPr lang="en-US" sz="1800" b="1" dirty="0">
                <a:solidFill>
                  <a:srgbClr val="FFFFFF"/>
                </a:solidFill>
              </a:rPr>
              <a:t> </a:t>
            </a:r>
            <a:r>
              <a:rPr lang="en-US" sz="1800" b="1" dirty="0">
                <a:solidFill>
                  <a:srgbClr val="FFFFFF"/>
                </a:solidFill>
                <a:sym typeface="Wingdings" panose="05000000000000000000" pitchFamily="2" charset="2"/>
              </a:rPr>
              <a:t>  </a:t>
            </a:r>
            <a:r>
              <a:rPr lang="ko-KR" altLang="en-US" sz="1800" b="1" dirty="0">
                <a:solidFill>
                  <a:srgbClr val="FFFFFF"/>
                </a:solidFill>
                <a:sym typeface="Wingdings" panose="05000000000000000000" pitchFamily="2" charset="2"/>
              </a:rPr>
              <a:t>미들웨어</a:t>
            </a:r>
            <a:r>
              <a:rPr lang="ko-KR" altLang="en-US" b="1" dirty="0">
                <a:solidFill>
                  <a:srgbClr val="FFFFFF"/>
                </a:solidFill>
                <a:sym typeface="Wingdings" panose="05000000000000000000" pitchFamily="2" charset="2"/>
              </a:rPr>
              <a:t>  실행 </a:t>
            </a:r>
            <a:r>
              <a:rPr lang="en-US" altLang="ko-KR" b="1" dirty="0">
                <a:solidFill>
                  <a:srgbClr val="FFFFFF"/>
                </a:solidFill>
                <a:sym typeface="Wingdings" panose="05000000000000000000" pitchFamily="2" charset="2"/>
              </a:rPr>
              <a:t> </a:t>
            </a:r>
            <a:r>
              <a:rPr lang="ko-KR" altLang="en-US" b="1" dirty="0">
                <a:solidFill>
                  <a:srgbClr val="FFFFFF"/>
                </a:solidFill>
                <a:sym typeface="Wingdings" panose="05000000000000000000" pitchFamily="2" charset="2"/>
              </a:rPr>
              <a:t>필요한 </a:t>
            </a:r>
            <a:r>
              <a:rPr lang="en-US" altLang="ko-KR" b="1" dirty="0">
                <a:solidFill>
                  <a:srgbClr val="FFFFFF"/>
                </a:solidFill>
                <a:sym typeface="Wingdings" panose="05000000000000000000" pitchFamily="2" charset="2"/>
              </a:rPr>
              <a:t>tool,</a:t>
            </a:r>
            <a:r>
              <a:rPr lang="ko-KR" altLang="en-US" b="1" dirty="0">
                <a:solidFill>
                  <a:srgbClr val="FFFFFF"/>
                </a:solidFill>
                <a:sym typeface="Wingdings" panose="05000000000000000000" pitchFamily="2" charset="2"/>
              </a:rPr>
              <a:t> </a:t>
            </a:r>
            <a:r>
              <a:rPr lang="en-US" altLang="ko-KR" b="1" dirty="0">
                <a:solidFill>
                  <a:srgbClr val="FFFFFF"/>
                </a:solidFill>
                <a:sym typeface="Wingdings" panose="05000000000000000000" pitchFamily="2" charset="2"/>
              </a:rPr>
              <a:t>skill</a:t>
            </a:r>
            <a:r>
              <a:rPr lang="ko-KR" altLang="en-US" b="1" dirty="0">
                <a:solidFill>
                  <a:srgbClr val="FFFFFF"/>
                </a:solidFill>
                <a:sym typeface="Wingdings" panose="05000000000000000000" pitchFamily="2" charset="2"/>
              </a:rPr>
              <a:t> 선택 </a:t>
            </a:r>
            <a:r>
              <a:rPr lang="en-US" altLang="ko-KR" b="1" dirty="0">
                <a:solidFill>
                  <a:srgbClr val="FFFFFF"/>
                </a:solidFill>
                <a:sym typeface="Wingdings" panose="05000000000000000000" pitchFamily="2" charset="2"/>
              </a:rPr>
              <a:t> </a:t>
            </a:r>
            <a:r>
              <a:rPr lang="ko-KR" altLang="en-US" b="1" dirty="0">
                <a:solidFill>
                  <a:srgbClr val="FFFFFF"/>
                </a:solidFill>
                <a:sym typeface="Wingdings" panose="05000000000000000000" pitchFamily="2" charset="2"/>
              </a:rPr>
              <a:t>탐색 및 정리 </a:t>
            </a:r>
            <a:r>
              <a:rPr lang="en-US" altLang="ko-KR" b="1" dirty="0">
                <a:solidFill>
                  <a:srgbClr val="FFFFFF"/>
                </a:solidFill>
                <a:sym typeface="Wingdings" panose="05000000000000000000" pitchFamily="2" charset="2"/>
              </a:rPr>
              <a:t> </a:t>
            </a:r>
          </a:p>
          <a:p>
            <a:pPr marL="0" indent="0">
              <a:buNone/>
            </a:pPr>
            <a:r>
              <a:rPr lang="ko-KR" altLang="en-US" b="1" dirty="0">
                <a:solidFill>
                  <a:srgbClr val="FFFFFF"/>
                </a:solidFill>
                <a:sym typeface="Wingdings" panose="05000000000000000000" pitchFamily="2" charset="2"/>
              </a:rPr>
              <a:t>맞</a:t>
            </a:r>
            <a:r>
              <a:rPr lang="ko-KR" altLang="en-US" b="1">
                <a:solidFill>
                  <a:srgbClr val="FFFFFF"/>
                </a:solidFill>
                <a:sym typeface="Wingdings" panose="05000000000000000000" pitchFamily="2" charset="2"/>
              </a:rPr>
              <a:t>춤 </a:t>
            </a:r>
            <a:r>
              <a:rPr lang="ko-KR" altLang="en-US" b="1" dirty="0">
                <a:solidFill>
                  <a:srgbClr val="FFFFFF"/>
                </a:solidFill>
                <a:sym typeface="Wingdings" panose="05000000000000000000" pitchFamily="2" charset="2"/>
              </a:rPr>
              <a:t>답변출력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520440" y="58064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5FEF"/>
                </a:solidFill>
              </a:rPr>
              <a:t>검색 → 검증 → 비교 → 추천 → 원본 링크 제공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198A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9436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5B5FEF"/>
                </a:solidFill>
              </a:rPr>
              <a:t>03 ·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600" b="1" dirty="0">
                <a:solidFill>
                  <a:srgbClr val="151B33"/>
                </a:solidFill>
              </a:rPr>
              <a:t>에이전트</a:t>
            </a:r>
            <a:r>
              <a:rPr lang="en-US" sz="2600" b="1" dirty="0">
                <a:solidFill>
                  <a:srgbClr val="151B33"/>
                </a:solidFill>
              </a:rPr>
              <a:t>가 모델·도구·미들웨어·스킬을 조립함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" y="139903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87086"/>
                </a:solidFill>
              </a:rPr>
              <a:t>create_agent(model="gpt-5.4-mini") 를 중심으로 실행 파이프라인을 구성함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205740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5B5F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67512" y="2221992"/>
            <a:ext cx="384048" cy="384048"/>
          </a:xfrm>
          <a:prstGeom prst="ellipse">
            <a:avLst/>
          </a:prstGeom>
          <a:solidFill>
            <a:srgbClr val="5B5FEF"/>
          </a:solidFill>
          <a:ln w="12700">
            <a:solidFill>
              <a:srgbClr val="5B5F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67512" y="223113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61288" y="2203704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1B33"/>
                </a:solidFill>
              </a:rPr>
              <a:t>사용자 요청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660904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87086"/>
                </a:solidFill>
              </a:rPr>
              <a:t>조건·관심사·파일 작업 요청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514600" y="2587752"/>
            <a:ext cx="411480" cy="301752"/>
          </a:xfrm>
          <a:prstGeom prst="chevron">
            <a:avLst/>
          </a:prstGeom>
          <a:solidFill>
            <a:srgbClr val="C9CEE0"/>
          </a:solidFill>
          <a:ln w="12700">
            <a:solidFill>
              <a:srgbClr val="C9CE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971800" y="205740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37C99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3136392" y="2221992"/>
            <a:ext cx="384048" cy="384048"/>
          </a:xfrm>
          <a:prstGeom prst="ellipse">
            <a:avLst/>
          </a:prstGeom>
          <a:solidFill>
            <a:srgbClr val="37C99B"/>
          </a:solidFill>
          <a:ln w="12700">
            <a:solidFill>
              <a:srgbClr val="37C99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136392" y="223113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30168" y="2203704"/>
            <a:ext cx="1161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1B33"/>
                </a:solidFill>
              </a:rPr>
              <a:t>미들웨어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154680" y="2660904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400" dirty="0">
                <a:solidFill>
                  <a:srgbClr val="687086"/>
                </a:solidFill>
              </a:rPr>
              <a:t>사용자 프로필 주입</a:t>
            </a:r>
            <a:r>
              <a:rPr lang="en-US" altLang="ko-KR" sz="1400" dirty="0">
                <a:solidFill>
                  <a:srgbClr val="687086"/>
                </a:solidFill>
              </a:rPr>
              <a:t>.</a:t>
            </a:r>
            <a:br>
              <a:rPr lang="en-US" altLang="ko-KR" sz="1400" dirty="0">
                <a:solidFill>
                  <a:srgbClr val="687086"/>
                </a:solidFill>
              </a:rPr>
            </a:br>
            <a:r>
              <a:rPr lang="ko-KR" altLang="en-US" sz="1400" dirty="0">
                <a:solidFill>
                  <a:srgbClr val="687086"/>
                </a:solidFill>
              </a:rPr>
              <a:t>스킬 안내 및 파일 백업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0" y="2587752"/>
            <a:ext cx="411480" cy="301752"/>
          </a:xfrm>
          <a:prstGeom prst="chevron">
            <a:avLst/>
          </a:prstGeom>
          <a:solidFill>
            <a:srgbClr val="C9CEE0"/>
          </a:solidFill>
          <a:ln w="12700">
            <a:solidFill>
              <a:srgbClr val="C9CE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5486400" y="205740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2D7F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5650992" y="2221992"/>
            <a:ext cx="384048" cy="384048"/>
          </a:xfrm>
          <a:prstGeom prst="ellipse">
            <a:avLst/>
          </a:prstGeom>
          <a:solidFill>
            <a:srgbClr val="2D7FF9"/>
          </a:solidFill>
          <a:ln w="12700">
            <a:solidFill>
              <a:srgbClr val="2D7F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650992" y="223113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44768" y="2203704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1B33"/>
                </a:solidFill>
              </a:rPr>
              <a:t>Agent + LLM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669280" y="2660904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87086"/>
                </a:solidFill>
              </a:rPr>
              <a:t>의도 판단 후 적절한 </a:t>
            </a:r>
            <a:r>
              <a:rPr lang="en-US" sz="1400" dirty="0" err="1">
                <a:solidFill>
                  <a:srgbClr val="687086"/>
                </a:solidFill>
              </a:rPr>
              <a:t>도구</a:t>
            </a:r>
            <a:r>
              <a:rPr lang="en-US" sz="1400" dirty="0">
                <a:solidFill>
                  <a:srgbClr val="687086"/>
                </a:solidFill>
              </a:rPr>
              <a:t> </a:t>
            </a:r>
            <a:r>
              <a:rPr lang="ko-KR" altLang="en-US" sz="1400" dirty="0">
                <a:solidFill>
                  <a:srgbClr val="687086"/>
                </a:solidFill>
              </a:rPr>
              <a:t>및 스킬 판단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498080" y="2587752"/>
            <a:ext cx="411480" cy="301752"/>
          </a:xfrm>
          <a:prstGeom prst="chevron">
            <a:avLst/>
          </a:prstGeom>
          <a:solidFill>
            <a:srgbClr val="C9CEE0"/>
          </a:solidFill>
          <a:ln w="12700">
            <a:solidFill>
              <a:srgbClr val="C9CE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7955280" y="2057400"/>
            <a:ext cx="1783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8119872" y="2221992"/>
            <a:ext cx="384048" cy="38404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8119872" y="223113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613648" y="2203704"/>
            <a:ext cx="978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1B33"/>
                </a:solidFill>
              </a:rPr>
              <a:t>Tools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138160" y="2660904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 err="1">
                <a:solidFill>
                  <a:srgbClr val="687086"/>
                </a:solidFill>
              </a:rPr>
              <a:t>검색·추천</a:t>
            </a:r>
            <a:r>
              <a:rPr lang="en-US" sz="1400" dirty="0">
                <a:solidFill>
                  <a:srgbClr val="687086"/>
                </a:solidFill>
              </a:rPr>
              <a:t>·</a:t>
            </a:r>
            <a:r>
              <a:rPr lang="ko-KR" altLang="en-US" sz="1400" dirty="0">
                <a:solidFill>
                  <a:srgbClr val="687086"/>
                </a:solidFill>
              </a:rPr>
              <a:t>비교</a:t>
            </a:r>
            <a:r>
              <a:rPr lang="en-US" altLang="ko-KR" sz="1400" dirty="0">
                <a:solidFill>
                  <a:srgbClr val="687086"/>
                </a:solidFill>
              </a:rPr>
              <a:t>· </a:t>
            </a:r>
            <a:r>
              <a:rPr lang="ko-KR" altLang="en-US" sz="1400" dirty="0">
                <a:solidFill>
                  <a:srgbClr val="687086"/>
                </a:solidFill>
              </a:rPr>
              <a:t>계산</a:t>
            </a:r>
            <a:r>
              <a:rPr lang="en-US" altLang="ko-KR" sz="1400" dirty="0">
                <a:solidFill>
                  <a:srgbClr val="687086"/>
                </a:solidFill>
              </a:rPr>
              <a:t>·</a:t>
            </a:r>
            <a:r>
              <a:rPr lang="ko-KR" altLang="en-US" sz="1400" dirty="0">
                <a:solidFill>
                  <a:srgbClr val="687086"/>
                </a:solidFill>
              </a:rPr>
              <a:t>파일작업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9829800" y="2587752"/>
            <a:ext cx="411480" cy="301752"/>
          </a:xfrm>
          <a:prstGeom prst="chevron">
            <a:avLst/>
          </a:prstGeom>
          <a:solidFill>
            <a:srgbClr val="C9CEE0"/>
          </a:solidFill>
          <a:ln w="12700">
            <a:solidFill>
              <a:srgbClr val="C9CE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10287000" y="2057400"/>
            <a:ext cx="14173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F5A52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10451592" y="2221992"/>
            <a:ext cx="384048" cy="384048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10451592" y="223113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945368" y="2203704"/>
            <a:ext cx="612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1B33"/>
                </a:solidFill>
              </a:rPr>
              <a:t>응답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469880" y="2660904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400" dirty="0">
                <a:solidFill>
                  <a:srgbClr val="687086"/>
                </a:solidFill>
              </a:rPr>
              <a:t>결과 정리 및 출처 제공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85800" y="406908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1EA"/>
            </a:solidFill>
            <a:prstDash val="solid"/>
          </a:ln>
          <a:effectLst>
            <a:outerShdw blurRad="12700" dist="50800" dir="2700000" algn="bl" rotWithShape="0">
              <a:srgbClr val="B7BDCC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685800" y="4069080"/>
            <a:ext cx="64008" cy="1234440"/>
          </a:xfrm>
          <a:prstGeom prst="rect">
            <a:avLst/>
          </a:prstGeom>
          <a:solidFill>
            <a:srgbClr val="5B5FEF"/>
          </a:solidFill>
          <a:ln w="12700">
            <a:solidFill>
              <a:srgbClr val="5B5F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914400" y="423367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B33"/>
                </a:solidFill>
              </a:rPr>
              <a:t>agent.py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14400" y="4599432"/>
            <a:ext cx="294436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200" dirty="0"/>
              <a:t>모델과 도구</a:t>
            </a:r>
            <a:r>
              <a:rPr lang="en-US" altLang="ko-KR" sz="1200" dirty="0"/>
              <a:t>, </a:t>
            </a:r>
            <a:r>
              <a:rPr lang="ko-KR" altLang="en-US" sz="1200" dirty="0"/>
              <a:t>미들웨어 결합</a:t>
            </a:r>
            <a:r>
              <a:rPr lang="en-US" altLang="ko-KR" sz="1200" dirty="0"/>
              <a:t>. </a:t>
            </a:r>
          </a:p>
          <a:p>
            <a:r>
              <a:rPr lang="ko-KR" altLang="en-US" sz="1200" dirty="0"/>
              <a:t>대외활동 추천 에이전트 구성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389120" y="406908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1EA"/>
            </a:solidFill>
            <a:prstDash val="solid"/>
          </a:ln>
          <a:effectLst>
            <a:outerShdw blurRad="12700" dist="50800" dir="2700000" algn="bl" rotWithShape="0">
              <a:srgbClr val="B7BDCC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4389120" y="4069080"/>
            <a:ext cx="64008" cy="1234440"/>
          </a:xfrm>
          <a:prstGeom prst="rect">
            <a:avLst/>
          </a:prstGeom>
          <a:solidFill>
            <a:srgbClr val="37C99B"/>
          </a:solidFill>
          <a:ln w="12700">
            <a:solidFill>
              <a:srgbClr val="37C99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4617720" y="423367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B33"/>
                </a:solidFill>
              </a:rPr>
              <a:t>middleware.py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4617720" y="4599432"/>
            <a:ext cx="294436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20263A"/>
                </a:solidFill>
              </a:rPr>
              <a:t>12</a:t>
            </a:r>
            <a:r>
              <a:rPr lang="ko-KR" altLang="en-US" sz="1200" dirty="0">
                <a:solidFill>
                  <a:srgbClr val="20263A"/>
                </a:solidFill>
              </a:rPr>
              <a:t>개의 도구와 </a:t>
            </a:r>
            <a:r>
              <a:rPr lang="en-US" altLang="ko-KR" sz="1200" dirty="0">
                <a:solidFill>
                  <a:srgbClr val="20263A"/>
                </a:solidFill>
              </a:rPr>
              <a:t>3</a:t>
            </a:r>
            <a:r>
              <a:rPr lang="ko-KR" altLang="en-US" sz="1200" dirty="0">
                <a:solidFill>
                  <a:srgbClr val="20263A"/>
                </a:solidFill>
              </a:rPr>
              <a:t>개의 런타임 미들웨어를  정의</a:t>
            </a:r>
            <a:r>
              <a:rPr lang="en-US" altLang="ko-KR" sz="1200" dirty="0">
                <a:solidFill>
                  <a:srgbClr val="20263A"/>
                </a:solidFill>
              </a:rPr>
              <a:t>. </a:t>
            </a:r>
            <a:r>
              <a:rPr lang="ko-KR" altLang="en-US" sz="1200" dirty="0">
                <a:solidFill>
                  <a:srgbClr val="20263A"/>
                </a:solidFill>
              </a:rPr>
              <a:t>공통 처리와 피일 작업 안정성 확보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092440" y="406908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1EA"/>
            </a:solidFill>
            <a:prstDash val="solid"/>
          </a:ln>
          <a:effectLst>
            <a:outerShdw blurRad="12700" dist="50800" dir="2700000" algn="bl" rotWithShape="0">
              <a:srgbClr val="B7BDCC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8092440" y="4069080"/>
            <a:ext cx="64008" cy="12344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8321040" y="423367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B33"/>
                </a:solidFill>
              </a:rPr>
              <a:t>skill_runtime.py + skills/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8321040" y="4599432"/>
            <a:ext cx="294436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/>
              <a:t>Skill_runtime.py + SKILL.md </a:t>
            </a:r>
            <a:r>
              <a:rPr lang="ko-KR" altLang="en-US" sz="1200" dirty="0"/>
              <a:t>를 자동 탐색</a:t>
            </a:r>
            <a:r>
              <a:rPr lang="en-US" altLang="ko-KR" sz="1200" dirty="0"/>
              <a:t>.</a:t>
            </a:r>
          </a:p>
          <a:p>
            <a:r>
              <a:rPr lang="ko-KR" altLang="en-US" sz="1200" dirty="0"/>
              <a:t>요청에 맞는 전문 지침을 로드 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31520" y="583387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87086"/>
                </a:solidFill>
              </a:rPr>
              <a:t>실행 진입점: langgraph.json → agent.py:agent</a:t>
            </a:r>
            <a:endParaRPr lang="en-US" sz="1100" dirty="0"/>
          </a:p>
        </p:txBody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198A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9436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5B5FEF"/>
                </a:solidFill>
              </a:rPr>
              <a:t>04 · TOOLS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1B33"/>
                </a:solidFill>
              </a:rPr>
              <a:t>12개 핵심 도구 + 도메인 제한 실시간 검색 도구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" y="139903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87086"/>
                </a:solidFill>
              </a:rPr>
              <a:t>tools.py의 outwork_search와 middleware.py의 DAEO_AGENT_TOOLS를 agent.py에서 결합함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CE1EA"/>
            </a:solidFill>
            <a:prstDash val="solid"/>
          </a:ln>
          <a:effectLst>
            <a:outerShdw blurRad="12700" dist="50800" dir="2700000" algn="bl" rotWithShape="0">
              <a:srgbClr val="B7BDCC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64008" cy="2331720"/>
          </a:xfrm>
          <a:prstGeom prst="rect">
            <a:avLst/>
          </a:prstGeom>
          <a:solidFill>
            <a:srgbClr val="2D7FF9"/>
          </a:solidFill>
          <a:ln w="12700">
            <a:solidFill>
              <a:srgbClr val="2D7F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68680" y="20391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B33"/>
                </a:solidFill>
              </a:rPr>
              <a:t>탐색·링크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404872"/>
            <a:ext cx="2167128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dirty="0">
                <a:solidFill>
                  <a:srgbClr val="20263A"/>
                </a:solidFill>
              </a:rPr>
              <a:t>search_platform_activities</a:t>
            </a:r>
            <a:endParaRPr lang="en-US" sz="1050" dirty="0"/>
          </a:p>
          <a:p>
            <a:r>
              <a:rPr lang="en-US" sz="1050" dirty="0" err="1">
                <a:solidFill>
                  <a:srgbClr val="20263A"/>
                </a:solidFill>
              </a:rPr>
              <a:t>get_activity_url</a:t>
            </a:r>
            <a:endParaRPr lang="en-US" sz="1050" dirty="0">
              <a:solidFill>
                <a:srgbClr val="20263A"/>
              </a:solidFill>
            </a:endParaRPr>
          </a:p>
          <a:p>
            <a:endParaRPr lang="en-US" sz="1050" dirty="0"/>
          </a:p>
          <a:p>
            <a:r>
              <a:rPr lang="en-US" sz="1050" dirty="0" err="1">
                <a:solidFill>
                  <a:srgbClr val="20263A"/>
                </a:solidFill>
              </a:rPr>
              <a:t>Search_daeo_activities_websites</a:t>
            </a:r>
            <a:endParaRPr lang="en-US" sz="1050" dirty="0"/>
          </a:p>
          <a:p>
            <a:r>
              <a:rPr lang="en-US" sz="1050" dirty="0" err="1">
                <a:solidFill>
                  <a:srgbClr val="20263A"/>
                </a:solidFill>
              </a:rPr>
              <a:t>search_web</a:t>
            </a:r>
            <a:endParaRPr lang="en-US" sz="1050" dirty="0">
              <a:solidFill>
                <a:srgbClr val="20263A"/>
              </a:solidFill>
            </a:endParaRPr>
          </a:p>
          <a:p>
            <a:endParaRPr lang="en-US" sz="1050" dirty="0"/>
          </a:p>
          <a:p>
            <a:r>
              <a:rPr lang="en-US" altLang="ko-KR" sz="1050" dirty="0">
                <a:solidFill>
                  <a:srgbClr val="20263A"/>
                </a:solidFill>
              </a:rPr>
              <a:t>&gt; </a:t>
            </a:r>
            <a:r>
              <a:rPr lang="ko-KR" altLang="en-US" sz="1050" dirty="0">
                <a:solidFill>
                  <a:srgbClr val="20263A"/>
                </a:solidFill>
              </a:rPr>
              <a:t>샘플 데이터 필터링 및 실시간 웹 탐색</a:t>
            </a:r>
            <a:endParaRPr lang="en-US" altLang="ko-KR" sz="1050" dirty="0">
              <a:solidFill>
                <a:srgbClr val="20263A"/>
              </a:solidFill>
            </a:endParaRPr>
          </a:p>
          <a:p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93008" y="187452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CE1EA"/>
            </a:solidFill>
            <a:prstDash val="solid"/>
          </a:ln>
          <a:effectLst>
            <a:outerShdw blurRad="12700" dist="50800" dir="2700000" algn="bl" rotWithShape="0">
              <a:srgbClr val="B7BDCC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3493008" y="1874520"/>
            <a:ext cx="64008" cy="2331720"/>
          </a:xfrm>
          <a:prstGeom prst="rect">
            <a:avLst/>
          </a:prstGeom>
          <a:solidFill>
            <a:srgbClr val="5B5FEF"/>
          </a:solidFill>
          <a:ln w="12700">
            <a:solidFill>
              <a:srgbClr val="5B5F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721608" y="20391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B33"/>
                </a:solidFill>
              </a:rPr>
              <a:t>추천·트렌드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21608" y="2404872"/>
            <a:ext cx="2167128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dirty="0">
                <a:solidFill>
                  <a:srgbClr val="20263A"/>
                </a:solidFill>
              </a:rPr>
              <a:t>recommend_by_user_preference</a:t>
            </a:r>
            <a:endParaRPr lang="en-US" sz="1050" dirty="0"/>
          </a:p>
          <a:p>
            <a:r>
              <a:rPr lang="en-US" sz="1050" dirty="0" err="1">
                <a:solidFill>
                  <a:srgbClr val="20263A"/>
                </a:solidFill>
              </a:rPr>
              <a:t>recommend_related_trending</a:t>
            </a:r>
            <a:endParaRPr lang="en-US" sz="1050" dirty="0">
              <a:solidFill>
                <a:srgbClr val="20263A"/>
              </a:solidFill>
            </a:endParaRPr>
          </a:p>
          <a:p>
            <a:endParaRPr lang="en-US" sz="1050" dirty="0">
              <a:solidFill>
                <a:srgbClr val="20263A"/>
              </a:solidFill>
            </a:endParaRPr>
          </a:p>
          <a:p>
            <a:r>
              <a:rPr lang="en-US" sz="1050" dirty="0"/>
              <a:t>&gt; </a:t>
            </a:r>
            <a:r>
              <a:rPr lang="ko-KR" altLang="en-US" sz="1050" dirty="0"/>
              <a:t>사용자 조건  기반 추천 및 트렌드 예시 제시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345936" y="187452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CE1EA"/>
            </a:solidFill>
            <a:prstDash val="solid"/>
          </a:ln>
          <a:effectLst>
            <a:outerShdw blurRad="12700" dist="50800" dir="2700000" algn="bl" rotWithShape="0">
              <a:srgbClr val="B7BDCC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6345936" y="1874520"/>
            <a:ext cx="64008" cy="2331720"/>
          </a:xfrm>
          <a:prstGeom prst="rect">
            <a:avLst/>
          </a:prstGeom>
          <a:solidFill>
            <a:srgbClr val="37C99B"/>
          </a:solidFill>
          <a:ln w="12700">
            <a:solidFill>
              <a:srgbClr val="37C99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574536" y="20391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B33"/>
                </a:solidFill>
              </a:rPr>
              <a:t>파일 작업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74536" y="2404872"/>
            <a:ext cx="2167128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dirty="0">
                <a:solidFill>
                  <a:srgbClr val="20263A"/>
                </a:solidFill>
              </a:rPr>
              <a:t>read_file · write_file</a:t>
            </a:r>
            <a:endParaRPr lang="en-US" sz="1050" dirty="0"/>
          </a:p>
          <a:p>
            <a:r>
              <a:rPr lang="en-US" sz="1050" dirty="0">
                <a:solidFill>
                  <a:srgbClr val="20263A"/>
                </a:solidFill>
              </a:rPr>
              <a:t>delete_file · create_directory</a:t>
            </a:r>
            <a:endParaRPr lang="en-US" sz="1050" dirty="0"/>
          </a:p>
          <a:p>
            <a:r>
              <a:rPr lang="en-US" sz="1050" dirty="0" err="1">
                <a:solidFill>
                  <a:srgbClr val="20263A"/>
                </a:solidFill>
              </a:rPr>
              <a:t>list_directory</a:t>
            </a:r>
            <a:endParaRPr lang="en-US" sz="1050" dirty="0">
              <a:solidFill>
                <a:srgbClr val="20263A"/>
              </a:solidFill>
            </a:endParaRPr>
          </a:p>
          <a:p>
            <a:endParaRPr lang="en-US" sz="1050" dirty="0">
              <a:solidFill>
                <a:srgbClr val="20263A"/>
              </a:solidFill>
            </a:endParaRPr>
          </a:p>
          <a:p>
            <a:r>
              <a:rPr lang="en-US" sz="1050" dirty="0">
                <a:solidFill>
                  <a:srgbClr val="20263A"/>
                </a:solidFill>
              </a:rPr>
              <a:t>&gt; </a:t>
            </a:r>
            <a:r>
              <a:rPr lang="ko-KR" altLang="en-US" sz="1050" dirty="0">
                <a:solidFill>
                  <a:srgbClr val="20263A"/>
                </a:solidFill>
              </a:rPr>
              <a:t>파일 읽기 및 쓰기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198864" y="187452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CE1EA"/>
            </a:solidFill>
            <a:prstDash val="solid"/>
          </a:ln>
          <a:effectLst>
            <a:outerShdw blurRad="12700" dist="50800" dir="2700000" algn="bl" rotWithShape="0">
              <a:srgbClr val="B7BDCC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9198864" y="1874520"/>
            <a:ext cx="64008" cy="23317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9427464" y="20391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B33"/>
                </a:solidFill>
              </a:rPr>
              <a:t>분석·실행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427464" y="2404872"/>
            <a:ext cx="2167128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dirty="0">
                <a:solidFill>
                  <a:srgbClr val="20263A"/>
                </a:solidFill>
              </a:rPr>
              <a:t>execute_python_code</a:t>
            </a:r>
            <a:endParaRPr lang="en-US" sz="1050" dirty="0"/>
          </a:p>
          <a:p>
            <a:endParaRPr lang="en-US" sz="1050" dirty="0">
              <a:solidFill>
                <a:srgbClr val="20263A"/>
              </a:solidFill>
            </a:endParaRPr>
          </a:p>
          <a:p>
            <a:r>
              <a:rPr lang="en-US" sz="1050" dirty="0">
                <a:solidFill>
                  <a:srgbClr val="20263A"/>
                </a:solidFill>
              </a:rPr>
              <a:t>&gt; </a:t>
            </a:r>
            <a:r>
              <a:rPr lang="en-US" sz="1050" dirty="0" err="1">
                <a:solidFill>
                  <a:srgbClr val="20263A"/>
                </a:solidFill>
              </a:rPr>
              <a:t>수집</a:t>
            </a:r>
            <a:r>
              <a:rPr lang="en-US" sz="1050" dirty="0">
                <a:solidFill>
                  <a:srgbClr val="20263A"/>
                </a:solidFill>
              </a:rPr>
              <a:t> 데이터 정렬·필터·통계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4617720"/>
            <a:ext cx="10881360" cy="1078992"/>
          </a:xfrm>
          <a:prstGeom prst="roundRect">
            <a:avLst>
              <a:gd name="adj" fmla="val 5085"/>
            </a:avLst>
          </a:prstGeom>
          <a:solidFill>
            <a:srgbClr val="EEF0FF"/>
          </a:solidFill>
          <a:ln w="12700">
            <a:solidFill>
              <a:srgbClr val="C9CE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868680" y="50292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B5FEF"/>
                </a:solidFill>
              </a:rPr>
              <a:t>outwork_search (TavilySearch)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703320" y="4972437"/>
            <a:ext cx="7360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0263A"/>
                </a:solidFill>
              </a:rPr>
              <a:t>입력: query  |  </a:t>
            </a:r>
            <a:r>
              <a:rPr lang="ko-KR" altLang="en-US" sz="1400" dirty="0">
                <a:solidFill>
                  <a:srgbClr val="20263A"/>
                </a:solidFill>
              </a:rPr>
              <a:t>설정 </a:t>
            </a:r>
            <a:r>
              <a:rPr lang="en-US" altLang="ko-KR" sz="1400" dirty="0">
                <a:solidFill>
                  <a:srgbClr val="20263A"/>
                </a:solidFill>
              </a:rPr>
              <a:t>: </a:t>
            </a:r>
            <a:r>
              <a:rPr lang="ko-KR" altLang="en-US" sz="1400" dirty="0">
                <a:solidFill>
                  <a:srgbClr val="20263A"/>
                </a:solidFill>
              </a:rPr>
              <a:t>최대 </a:t>
            </a:r>
            <a:r>
              <a:rPr lang="en-US" altLang="ko-KR" sz="1400" dirty="0">
                <a:solidFill>
                  <a:srgbClr val="20263A"/>
                </a:solidFill>
              </a:rPr>
              <a:t>5</a:t>
            </a:r>
            <a:r>
              <a:rPr lang="ko-KR" altLang="en-US" sz="1400" dirty="0">
                <a:solidFill>
                  <a:srgbClr val="20263A"/>
                </a:solidFill>
              </a:rPr>
              <a:t>개의 결과 </a:t>
            </a:r>
            <a:r>
              <a:rPr lang="en-US" altLang="ko-KR" sz="1400" dirty="0">
                <a:solidFill>
                  <a:srgbClr val="20263A"/>
                </a:solidFill>
              </a:rPr>
              <a:t>, </a:t>
            </a:r>
            <a:r>
              <a:rPr lang="ko-KR" altLang="en-US" sz="1400" dirty="0">
                <a:solidFill>
                  <a:srgbClr val="20263A"/>
                </a:solidFill>
              </a:rPr>
              <a:t>도메인 </a:t>
            </a:r>
            <a:r>
              <a:rPr lang="en-US" altLang="ko-KR" sz="1400" dirty="0">
                <a:solidFill>
                  <a:srgbClr val="20263A"/>
                </a:solidFill>
              </a:rPr>
              <a:t>10</a:t>
            </a:r>
            <a:r>
              <a:rPr lang="ko-KR" altLang="en-US" sz="1400" dirty="0">
                <a:solidFill>
                  <a:srgbClr val="20263A"/>
                </a:solidFill>
              </a:rPr>
              <a:t>개 제한 </a:t>
            </a:r>
            <a:r>
              <a:rPr lang="en-US" altLang="ko-KR" sz="1400" dirty="0">
                <a:solidFill>
                  <a:srgbClr val="20263A"/>
                </a:solidFill>
              </a:rPr>
              <a:t>|  </a:t>
            </a:r>
            <a:r>
              <a:rPr lang="ko-KR" altLang="en-US" sz="1400" dirty="0">
                <a:solidFill>
                  <a:srgbClr val="20263A"/>
                </a:solidFill>
              </a:rPr>
              <a:t>출력 </a:t>
            </a:r>
            <a:r>
              <a:rPr lang="en-US" altLang="ko-KR" sz="1400" dirty="0">
                <a:solidFill>
                  <a:srgbClr val="20263A"/>
                </a:solidFill>
              </a:rPr>
              <a:t>: </a:t>
            </a:r>
            <a:r>
              <a:rPr lang="ko-KR" altLang="en-US" sz="1400" dirty="0">
                <a:solidFill>
                  <a:srgbClr val="20263A"/>
                </a:solidFill>
              </a:rPr>
              <a:t>제목 </a:t>
            </a:r>
            <a:r>
              <a:rPr lang="en-US" altLang="ko-KR" sz="1400" dirty="0">
                <a:solidFill>
                  <a:srgbClr val="20263A"/>
                </a:solidFill>
              </a:rPr>
              <a:t>– URL – </a:t>
            </a:r>
            <a:r>
              <a:rPr lang="ko-KR" altLang="en-US" sz="1400" dirty="0">
                <a:solidFill>
                  <a:srgbClr val="20263A"/>
                </a:solidFill>
              </a:rPr>
              <a:t>본문 요약</a:t>
            </a:r>
            <a:r>
              <a:rPr lang="en-US" altLang="ko-KR" sz="1400" dirty="0">
                <a:solidFill>
                  <a:srgbClr val="20263A"/>
                </a:solidFill>
              </a:rPr>
              <a:t>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5800" y="592531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198A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9436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5B5FEF"/>
                </a:solidFill>
              </a:rPr>
              <a:t>05 · TOOL CONTRACTS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1B33"/>
                </a:solidFill>
              </a:rPr>
              <a:t>검색과 추천 도구의 입력·출력 계약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" y="139903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87086"/>
                </a:solidFill>
              </a:rPr>
              <a:t>LLM이 docstring의 Args/Returns를 읽고 구조화된 인자를 생성함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10972800" cy="457200"/>
          </a:xfrm>
          <a:prstGeom prst="roundRect">
            <a:avLst>
              <a:gd name="adj" fmla="val 8000"/>
            </a:avLst>
          </a:prstGeom>
          <a:solidFill>
            <a:srgbClr val="151B33"/>
          </a:solidFill>
          <a:ln w="12700">
            <a:solidFill>
              <a:srgbClr val="151B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도구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931920" y="18745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Args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909560" y="187452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Returns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2331720"/>
            <a:ext cx="10972800" cy="484632"/>
          </a:xfrm>
          <a:prstGeom prst="rect">
            <a:avLst/>
          </a:prstGeom>
          <a:solidFill>
            <a:srgbClr val="F0F2F8"/>
          </a:solidFill>
          <a:ln w="12700">
            <a:solidFill>
              <a:srgbClr val="E2E6EF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0" name="Text 8"/>
          <p:cNvSpPr/>
          <p:nvPr/>
        </p:nvSpPr>
        <p:spPr>
          <a:xfrm>
            <a:off x="822960" y="242316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5FEF"/>
                </a:solidFill>
              </a:rPr>
              <a:t>search_platform_activities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931920" y="241401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0263A"/>
                </a:solidFill>
              </a:rPr>
              <a:t>platform, keyword, category, start_date, end_date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909560" y="24140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87086"/>
                </a:solidFill>
              </a:rPr>
              <a:t>조건에 맞는 공고 JSON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" y="2889504"/>
            <a:ext cx="1097280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822960" y="2980944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5FEF"/>
                </a:solidFill>
              </a:rPr>
              <a:t>get_activity_url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931920" y="297180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0263A"/>
                </a:solidFill>
              </a:rPr>
              <a:t>activity_id 또는 title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909560" y="2971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87086"/>
                </a:solidFill>
              </a:rPr>
              <a:t>원본 URL + 안내 문구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4360" y="3447288"/>
            <a:ext cx="10972800" cy="484632"/>
          </a:xfrm>
          <a:prstGeom prst="rect">
            <a:avLst/>
          </a:prstGeom>
          <a:solidFill>
            <a:srgbClr val="F0F2F8"/>
          </a:solidFill>
          <a:ln w="12700">
            <a:solidFill>
              <a:srgbClr val="E2E6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822960" y="353872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5FEF"/>
                </a:solidFill>
              </a:rPr>
              <a:t>recommend_by_user_preference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931920" y="352958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0263A"/>
                </a:solidFill>
              </a:rPr>
              <a:t>user_interests, target_job, preferred_benefit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909560" y="35295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87086"/>
                </a:solidFill>
              </a:rPr>
              <a:t>매칭 점수 포함 추천 JSON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94360" y="4005072"/>
            <a:ext cx="1097280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822960" y="409651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5FEF"/>
                </a:solidFill>
              </a:rPr>
              <a:t>recommend_related_trending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931920" y="408736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0263A"/>
                </a:solidFill>
              </a:rPr>
              <a:t>query, sort_by=views|recent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909560" y="40873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87086"/>
                </a:solidFill>
              </a:rPr>
              <a:t>연관 키워드 + 후기 JSON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94360" y="4562856"/>
            <a:ext cx="10972800" cy="484632"/>
          </a:xfrm>
          <a:prstGeom prst="rect">
            <a:avLst/>
          </a:prstGeom>
          <a:solidFill>
            <a:srgbClr val="F0F2F8"/>
          </a:solidFill>
          <a:ln w="12700">
            <a:solidFill>
              <a:srgbClr val="E2E6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822960" y="4654296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5FEF"/>
                </a:solidFill>
              </a:rPr>
              <a:t>search_daeo_activities_websites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931920" y="464515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0263A"/>
                </a:solidFill>
              </a:rPr>
              <a:t>query, max_results=5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909560" y="46451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87086"/>
                </a:solidFill>
              </a:rPr>
              <a:t>전문 사이트 검색 결과 문자열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94360" y="5120640"/>
            <a:ext cx="1097280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822960" y="521208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5FEF"/>
                </a:solidFill>
              </a:rPr>
              <a:t>search_web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931920" y="520293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0263A"/>
                </a:solidFill>
              </a:rPr>
              <a:t>query, max_results=5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909560" y="52029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87086"/>
                </a:solidFill>
              </a:rPr>
              <a:t>일반 웹 검색 + 중복 구분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85800" y="592531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7FF9"/>
                </a:solidFill>
              </a:rPr>
              <a:t>구현 포인트: Tavily 결과 요약은 최대 300자로 제한하여 LLM 컨텍스트 낭비를 줄임</a:t>
            </a:r>
            <a:endParaRPr lang="en-US" sz="11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198A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9436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5B5FEF"/>
                </a:solidFill>
              </a:rPr>
              <a:t>06 · TOOL CONTRACTS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1B33"/>
                </a:solidFill>
              </a:rPr>
              <a:t>파일 관리와 계산 도구의 입력·출력 계약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" y="139903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87086"/>
                </a:solidFill>
              </a:rPr>
              <a:t>지원서·메모 관리와 데이터 분석까지 대화 안에서 수행함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874520"/>
            <a:ext cx="525780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CE1EA"/>
            </a:solidFill>
            <a:prstDash val="solid"/>
          </a:ln>
          <a:effectLst>
            <a:outerShdw blurRad="12700" dist="50800" dir="2700000" algn="bl" rotWithShape="0">
              <a:srgbClr val="B7BDCC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85800" y="1874520"/>
            <a:ext cx="64008" cy="987552"/>
          </a:xfrm>
          <a:prstGeom prst="rect">
            <a:avLst/>
          </a:prstGeom>
          <a:solidFill>
            <a:srgbClr val="37C99B"/>
          </a:solidFill>
          <a:ln w="12700">
            <a:solidFill>
              <a:srgbClr val="37C99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14400" y="203911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B33"/>
                </a:solidFill>
              </a:rPr>
              <a:t>read_file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404872"/>
            <a:ext cx="4818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dirty="0" err="1">
                <a:solidFill>
                  <a:srgbClr val="20263A"/>
                </a:solidFill>
              </a:rPr>
              <a:t>Args</a:t>
            </a:r>
            <a:r>
              <a:rPr lang="ko-KR" altLang="en-US" sz="1050" dirty="0">
                <a:solidFill>
                  <a:srgbClr val="20263A"/>
                </a:solidFill>
              </a:rPr>
              <a:t> </a:t>
            </a:r>
            <a:r>
              <a:rPr lang="en-US" altLang="ko-KR" sz="1050" dirty="0">
                <a:solidFill>
                  <a:srgbClr val="20263A"/>
                </a:solidFill>
              </a:rPr>
              <a:t>:</a:t>
            </a:r>
            <a:r>
              <a:rPr lang="ko-KR" altLang="en-US" sz="1050" dirty="0">
                <a:solidFill>
                  <a:srgbClr val="20263A"/>
                </a:solidFill>
              </a:rPr>
              <a:t> </a:t>
            </a:r>
            <a:r>
              <a:rPr lang="en-US" altLang="ko-KR" sz="1050" dirty="0" err="1">
                <a:solidFill>
                  <a:srgbClr val="20263A"/>
                </a:solidFill>
              </a:rPr>
              <a:t>file_path</a:t>
            </a:r>
            <a:r>
              <a:rPr lang="en-US" altLang="ko-KR" sz="1050" dirty="0">
                <a:solidFill>
                  <a:srgbClr val="20263A"/>
                </a:solidFill>
              </a:rPr>
              <a:t> : </a:t>
            </a:r>
            <a:r>
              <a:rPr lang="ko-KR" altLang="en-US" sz="1050" dirty="0">
                <a:solidFill>
                  <a:srgbClr val="20263A"/>
                </a:solidFill>
              </a:rPr>
              <a:t>읽을 파일 경로</a:t>
            </a:r>
            <a:endParaRPr lang="en-US" sz="1050" dirty="0">
              <a:solidFill>
                <a:srgbClr val="20263A"/>
              </a:solidFill>
            </a:endParaRPr>
          </a:p>
          <a:p>
            <a:r>
              <a:rPr lang="en-US" sz="1050" dirty="0">
                <a:solidFill>
                  <a:srgbClr val="20263A"/>
                </a:solidFill>
              </a:rPr>
              <a:t>Returns  : </a:t>
            </a:r>
            <a:r>
              <a:rPr lang="en-US" sz="1050" dirty="0" err="1">
                <a:solidFill>
                  <a:srgbClr val="20263A"/>
                </a:solidFill>
              </a:rPr>
              <a:t>파일</a:t>
            </a:r>
            <a:r>
              <a:rPr lang="en-US" sz="1050" dirty="0">
                <a:solidFill>
                  <a:srgbClr val="20263A"/>
                </a:solidFill>
              </a:rPr>
              <a:t> 내용 + 총 줄 수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63640" y="1874520"/>
            <a:ext cx="525780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CE1EA"/>
            </a:solidFill>
            <a:prstDash val="solid"/>
          </a:ln>
          <a:effectLst>
            <a:outerShdw blurRad="12700" dist="50800" dir="2700000" algn="bl" rotWithShape="0">
              <a:srgbClr val="B7BDCC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263640" y="1874520"/>
            <a:ext cx="64008" cy="987552"/>
          </a:xfrm>
          <a:prstGeom prst="rect">
            <a:avLst/>
          </a:prstGeom>
          <a:solidFill>
            <a:srgbClr val="37C99B"/>
          </a:solidFill>
          <a:ln w="12700">
            <a:solidFill>
              <a:srgbClr val="37C99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492240" y="203911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B33"/>
                </a:solidFill>
              </a:rPr>
              <a:t>write_file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2404872"/>
            <a:ext cx="4818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dirty="0">
                <a:solidFill>
                  <a:srgbClr val="20263A"/>
                </a:solidFill>
              </a:rPr>
              <a:t>Args  file_path, content : </a:t>
            </a:r>
            <a:r>
              <a:rPr lang="ko-KR" altLang="en-US" sz="1050" dirty="0">
                <a:solidFill>
                  <a:srgbClr val="20263A"/>
                </a:solidFill>
              </a:rPr>
              <a:t>파일 경로와 작성 내용</a:t>
            </a:r>
            <a:endParaRPr lang="en-US" sz="1050" dirty="0"/>
          </a:p>
          <a:p>
            <a:r>
              <a:rPr lang="en-US" sz="1050" dirty="0">
                <a:solidFill>
                  <a:srgbClr val="20263A"/>
                </a:solidFill>
              </a:rPr>
              <a:t>Returns  : </a:t>
            </a:r>
            <a:r>
              <a:rPr lang="en-US" sz="1050" dirty="0" err="1">
                <a:solidFill>
                  <a:srgbClr val="20263A"/>
                </a:solidFill>
              </a:rPr>
              <a:t>성공</a:t>
            </a:r>
            <a:r>
              <a:rPr lang="en-US" sz="1050" dirty="0">
                <a:solidFill>
                  <a:srgbClr val="20263A"/>
                </a:solidFill>
              </a:rPr>
              <a:t>/실패 + 총 줄 수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85800" y="3118104"/>
            <a:ext cx="525780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CE1EA"/>
            </a:solidFill>
            <a:prstDash val="solid"/>
          </a:ln>
          <a:effectLst>
            <a:outerShdw blurRad="12700" dist="50800" dir="2700000" algn="bl" rotWithShape="0">
              <a:srgbClr val="B7BDCC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685800" y="3118104"/>
            <a:ext cx="64008" cy="987552"/>
          </a:xfrm>
          <a:prstGeom prst="rect">
            <a:avLst/>
          </a:prstGeom>
          <a:solidFill>
            <a:srgbClr val="37C99B"/>
          </a:solidFill>
          <a:ln w="12700">
            <a:solidFill>
              <a:srgbClr val="37C99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914400" y="328269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B33"/>
                </a:solidFill>
              </a:rPr>
              <a:t>delete_file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3648456"/>
            <a:ext cx="4818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dirty="0">
                <a:solidFill>
                  <a:srgbClr val="20263A"/>
                </a:solidFill>
              </a:rPr>
              <a:t>Args  </a:t>
            </a:r>
            <a:r>
              <a:rPr lang="en-US" sz="1050" dirty="0" err="1">
                <a:solidFill>
                  <a:srgbClr val="20263A"/>
                </a:solidFill>
              </a:rPr>
              <a:t>file_path</a:t>
            </a:r>
            <a:r>
              <a:rPr lang="en-US" sz="1050" dirty="0">
                <a:solidFill>
                  <a:srgbClr val="20263A"/>
                </a:solidFill>
              </a:rPr>
              <a:t> : </a:t>
            </a:r>
            <a:r>
              <a:rPr lang="ko-KR" altLang="en-US" sz="1050" dirty="0">
                <a:solidFill>
                  <a:srgbClr val="20263A"/>
                </a:solidFill>
              </a:rPr>
              <a:t>삭제할 파일 경로</a:t>
            </a:r>
            <a:endParaRPr lang="en-US" sz="1050" dirty="0"/>
          </a:p>
          <a:p>
            <a:r>
              <a:rPr lang="en-US" sz="1050" dirty="0">
                <a:solidFill>
                  <a:srgbClr val="20263A"/>
                </a:solidFill>
              </a:rPr>
              <a:t>Returns : 성공/실패 메시지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63640" y="3118104"/>
            <a:ext cx="525780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CE1EA"/>
            </a:solidFill>
            <a:prstDash val="solid"/>
          </a:ln>
          <a:effectLst>
            <a:outerShdw blurRad="12700" dist="50800" dir="2700000" algn="bl" rotWithShape="0">
              <a:srgbClr val="B7BDCC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6263640" y="3118104"/>
            <a:ext cx="64008" cy="987552"/>
          </a:xfrm>
          <a:prstGeom prst="rect">
            <a:avLst/>
          </a:prstGeom>
          <a:solidFill>
            <a:srgbClr val="37C99B"/>
          </a:solidFill>
          <a:ln w="12700">
            <a:solidFill>
              <a:srgbClr val="37C99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492240" y="328269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B33"/>
                </a:solidFill>
              </a:rPr>
              <a:t>create_directory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92240" y="3648456"/>
            <a:ext cx="4818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dirty="0">
                <a:solidFill>
                  <a:srgbClr val="20263A"/>
                </a:solidFill>
              </a:rPr>
              <a:t>Args  </a:t>
            </a:r>
            <a:r>
              <a:rPr lang="en-US" sz="1050" dirty="0" err="1">
                <a:solidFill>
                  <a:srgbClr val="20263A"/>
                </a:solidFill>
              </a:rPr>
              <a:t>dir_path</a:t>
            </a:r>
            <a:r>
              <a:rPr lang="en-US" sz="1050" dirty="0">
                <a:solidFill>
                  <a:srgbClr val="20263A"/>
                </a:solidFill>
              </a:rPr>
              <a:t> : </a:t>
            </a:r>
            <a:r>
              <a:rPr lang="ko-KR" altLang="en-US" sz="1050" dirty="0">
                <a:solidFill>
                  <a:srgbClr val="20263A"/>
                </a:solidFill>
              </a:rPr>
              <a:t>새로 만들어진 폴더 경로</a:t>
            </a:r>
            <a:endParaRPr lang="en-US" sz="1050" dirty="0"/>
          </a:p>
          <a:p>
            <a:r>
              <a:rPr lang="en-US" sz="1050" dirty="0">
                <a:solidFill>
                  <a:srgbClr val="20263A"/>
                </a:solidFill>
              </a:rPr>
              <a:t>Returns  : </a:t>
            </a:r>
            <a:r>
              <a:rPr lang="en-US" sz="1050" dirty="0" err="1">
                <a:solidFill>
                  <a:srgbClr val="20263A"/>
                </a:solidFill>
              </a:rPr>
              <a:t>성공</a:t>
            </a:r>
            <a:r>
              <a:rPr lang="en-US" sz="1050" dirty="0">
                <a:solidFill>
                  <a:srgbClr val="20263A"/>
                </a:solidFill>
              </a:rPr>
              <a:t>/실패 메시지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85800" y="4361688"/>
            <a:ext cx="525780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CE1EA"/>
            </a:solidFill>
            <a:prstDash val="solid"/>
          </a:ln>
          <a:effectLst>
            <a:outerShdw blurRad="12700" dist="50800" dir="2700000" algn="bl" rotWithShape="0">
              <a:srgbClr val="B7BDCC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685800" y="4361688"/>
            <a:ext cx="64008" cy="987552"/>
          </a:xfrm>
          <a:prstGeom prst="rect">
            <a:avLst/>
          </a:prstGeom>
          <a:solidFill>
            <a:srgbClr val="37C99B"/>
          </a:solidFill>
          <a:ln w="12700">
            <a:solidFill>
              <a:srgbClr val="37C99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914400" y="45262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B33"/>
                </a:solidFill>
              </a:rPr>
              <a:t>list_directory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4400" y="4892040"/>
            <a:ext cx="4818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dirty="0" err="1">
                <a:solidFill>
                  <a:srgbClr val="20263A"/>
                </a:solidFill>
              </a:rPr>
              <a:t>Args</a:t>
            </a:r>
            <a:r>
              <a:rPr lang="en-US" sz="1050" dirty="0">
                <a:solidFill>
                  <a:srgbClr val="20263A"/>
                </a:solidFill>
              </a:rPr>
              <a:t> : </a:t>
            </a:r>
            <a:r>
              <a:rPr lang="en-US" sz="1050" dirty="0" err="1">
                <a:solidFill>
                  <a:srgbClr val="20263A"/>
                </a:solidFill>
              </a:rPr>
              <a:t>dir_path</a:t>
            </a:r>
            <a:r>
              <a:rPr lang="en-US" sz="1050" dirty="0">
                <a:solidFill>
                  <a:srgbClr val="20263A"/>
                </a:solidFill>
              </a:rPr>
              <a:t> : </a:t>
            </a:r>
            <a:r>
              <a:rPr lang="ko-KR" altLang="en-US" sz="1050" dirty="0">
                <a:solidFill>
                  <a:srgbClr val="20263A"/>
                </a:solidFill>
              </a:rPr>
              <a:t>확인할 파일 경로</a:t>
            </a:r>
            <a:br>
              <a:rPr lang="en-US" sz="1050" dirty="0">
                <a:solidFill>
                  <a:srgbClr val="20263A"/>
                </a:solidFill>
              </a:rPr>
            </a:br>
            <a:r>
              <a:rPr lang="en-US" sz="1050" dirty="0">
                <a:solidFill>
                  <a:srgbClr val="20263A"/>
                </a:solidFill>
              </a:rPr>
              <a:t>Returns : 파일/폴더 목록 + 크기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63640" y="4361688"/>
            <a:ext cx="525780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CE1EA"/>
            </a:solidFill>
            <a:prstDash val="solid"/>
          </a:ln>
          <a:effectLst>
            <a:outerShdw blurRad="12700" dist="50800" dir="2700000" algn="bl" rotWithShape="0">
              <a:srgbClr val="B7BDCC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6263640" y="4361688"/>
            <a:ext cx="64008" cy="98755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492240" y="45262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B33"/>
                </a:solidFill>
              </a:rPr>
              <a:t>execute_python_code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92240" y="4892040"/>
            <a:ext cx="4818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dirty="0" err="1">
                <a:solidFill>
                  <a:srgbClr val="20263A"/>
                </a:solidFill>
              </a:rPr>
              <a:t>Args</a:t>
            </a:r>
            <a:r>
              <a:rPr lang="en-US" sz="1050" dirty="0">
                <a:solidFill>
                  <a:srgbClr val="20263A"/>
                </a:solidFill>
              </a:rPr>
              <a:t>  code : </a:t>
            </a:r>
            <a:r>
              <a:rPr lang="ko-KR" altLang="en-US" sz="1050" dirty="0">
                <a:solidFill>
                  <a:srgbClr val="20263A"/>
                </a:solidFill>
              </a:rPr>
              <a:t>실행할 파이썬 코드</a:t>
            </a:r>
            <a:endParaRPr lang="en-US" altLang="ko-KR" sz="1050" dirty="0">
              <a:solidFill>
                <a:srgbClr val="20263A"/>
              </a:solidFill>
            </a:endParaRPr>
          </a:p>
          <a:p>
            <a:r>
              <a:rPr lang="en-US" sz="1050" dirty="0">
                <a:solidFill>
                  <a:srgbClr val="20263A"/>
                </a:solidFill>
              </a:rPr>
              <a:t>Return : </a:t>
            </a:r>
            <a:r>
              <a:rPr lang="en-US" sz="1050" dirty="0" err="1">
                <a:solidFill>
                  <a:srgbClr val="20263A"/>
                </a:solidFill>
              </a:rPr>
              <a:t>stdout</a:t>
            </a:r>
            <a:r>
              <a:rPr lang="ko-KR" altLang="en-US" sz="1050" dirty="0">
                <a:solidFill>
                  <a:srgbClr val="20263A"/>
                </a:solidFill>
              </a:rPr>
              <a:t> </a:t>
            </a:r>
            <a:r>
              <a:rPr lang="en-US" altLang="ko-KR" sz="1050" dirty="0">
                <a:solidFill>
                  <a:srgbClr val="20263A"/>
                </a:solidFill>
              </a:rPr>
              <a:t>, stderr</a:t>
            </a:r>
            <a:r>
              <a:rPr lang="ko-KR" altLang="en-US" sz="1050" dirty="0">
                <a:solidFill>
                  <a:srgbClr val="20263A"/>
                </a:solidFill>
              </a:rPr>
              <a:t> 실행 </a:t>
            </a:r>
            <a:r>
              <a:rPr lang="ko-KR" altLang="en-US" sz="1050" dirty="0" err="1">
                <a:solidFill>
                  <a:srgbClr val="20263A"/>
                </a:solidFill>
              </a:rPr>
              <a:t>출력값</a:t>
            </a:r>
            <a:r>
              <a:rPr lang="en-US" altLang="ko-KR" sz="1050" dirty="0">
                <a:solidFill>
                  <a:srgbClr val="20263A"/>
                </a:solidFill>
              </a:rPr>
              <a:t>, </a:t>
            </a:r>
            <a:r>
              <a:rPr lang="ko-KR" altLang="en-US" sz="1050" dirty="0">
                <a:solidFill>
                  <a:srgbClr val="20263A"/>
                </a:solidFill>
              </a:rPr>
              <a:t>에러 </a:t>
            </a:r>
            <a:r>
              <a:rPr lang="ko-KR" altLang="en-US" sz="1050" dirty="0" err="1">
                <a:solidFill>
                  <a:srgbClr val="20263A"/>
                </a:solidFill>
              </a:rPr>
              <a:t>출력값</a:t>
            </a:r>
            <a:r>
              <a:rPr lang="ko-KR" altLang="en-US" sz="1050" dirty="0">
                <a:solidFill>
                  <a:srgbClr val="20263A"/>
                </a:solidFill>
              </a:rPr>
              <a:t> 또는 오류 메시지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85800" y="5687568"/>
            <a:ext cx="10835640" cy="502920"/>
          </a:xfrm>
          <a:prstGeom prst="roundRect">
            <a:avLst>
              <a:gd name="adj" fmla="val 7273"/>
            </a:avLst>
          </a:prstGeom>
          <a:solidFill>
            <a:srgbClr val="FFF3E4"/>
          </a:solidFill>
          <a:ln w="12700">
            <a:solidFill>
              <a:srgbClr val="F7C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914400" y="5797296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25A00"/>
                </a:solidFill>
              </a:rPr>
              <a:t>안전 장치: write_file / delete_file / edit_file </a:t>
            </a:r>
            <a:r>
              <a:rPr lang="en-US" sz="1100" b="1" dirty="0" err="1">
                <a:solidFill>
                  <a:srgbClr val="A25A00"/>
                </a:solidFill>
              </a:rPr>
              <a:t>호출</a:t>
            </a:r>
            <a:r>
              <a:rPr lang="en-US" sz="1100" b="1" dirty="0">
                <a:solidFill>
                  <a:srgbClr val="A25A00"/>
                </a:solidFill>
              </a:rPr>
              <a:t> 전 </a:t>
            </a:r>
            <a:r>
              <a:rPr lang="ko-KR" altLang="en-US" sz="1100" b="1" dirty="0">
                <a:solidFill>
                  <a:srgbClr val="A25A00"/>
                </a:solidFill>
              </a:rPr>
              <a:t>기존 파일이 있으면</a:t>
            </a:r>
            <a:r>
              <a:rPr lang="en-US" altLang="ko-KR" sz="1100" b="1" dirty="0">
                <a:solidFill>
                  <a:srgbClr val="A25A00"/>
                </a:solidFill>
              </a:rPr>
              <a:t>,</a:t>
            </a:r>
            <a:r>
              <a:rPr lang="en-US" sz="1100" b="1" dirty="0">
                <a:solidFill>
                  <a:srgbClr val="A25A00"/>
                </a:solidFill>
              </a:rPr>
              <a:t> auto_backup_middleware가 기존 파일을 backup/에 복사함</a:t>
            </a:r>
            <a:endParaRPr lang="en-US" sz="11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198A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9436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5B5FEF"/>
                </a:solidFill>
              </a:rPr>
              <a:t>07 · MIDDLEWARE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1B33"/>
                </a:solidFill>
              </a:rPr>
              <a:t>모델 호출 전후의 반복 </a:t>
            </a:r>
            <a:r>
              <a:rPr lang="en-US" sz="2600" b="1" dirty="0" err="1">
                <a:solidFill>
                  <a:srgbClr val="151B33"/>
                </a:solidFill>
              </a:rPr>
              <a:t>작업을</a:t>
            </a:r>
            <a:r>
              <a:rPr lang="en-US" sz="2600" b="1" dirty="0">
                <a:solidFill>
                  <a:srgbClr val="151B33"/>
                </a:solidFill>
              </a:rPr>
              <a:t> </a:t>
            </a:r>
            <a:r>
              <a:rPr lang="en-US" sz="2600" b="1" dirty="0" err="1">
                <a:solidFill>
                  <a:srgbClr val="151B33"/>
                </a:solidFill>
              </a:rPr>
              <a:t>자동화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" y="139903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687086"/>
                </a:solidFill>
              </a:rPr>
              <a:t>agent.py에</a:t>
            </a:r>
            <a:r>
              <a:rPr lang="en-US" sz="1200" dirty="0">
                <a:solidFill>
                  <a:srgbClr val="687086"/>
                </a:solidFill>
              </a:rPr>
              <a:t> </a:t>
            </a:r>
            <a:r>
              <a:rPr lang="en-US" sz="1200" dirty="0" err="1">
                <a:solidFill>
                  <a:srgbClr val="687086"/>
                </a:solidFill>
              </a:rPr>
              <a:t>등록</a:t>
            </a:r>
            <a:r>
              <a:rPr lang="ko-KR" altLang="en-US" sz="1200" dirty="0">
                <a:solidFill>
                  <a:srgbClr val="687086"/>
                </a:solidFill>
              </a:rPr>
              <a:t>되어 각 실행 시정에 요청 컨텍스트와 도구 행을 지원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24688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5B5F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04672" y="2039112"/>
            <a:ext cx="384048" cy="384048"/>
          </a:xfrm>
          <a:prstGeom prst="ellipse">
            <a:avLst/>
          </a:prstGeom>
          <a:solidFill>
            <a:srgbClr val="5B5FEF"/>
          </a:solidFill>
          <a:ln w="12700">
            <a:solidFill>
              <a:srgbClr val="5B5F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04672" y="204825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98448" y="2020824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1B33"/>
                </a:solidFill>
              </a:rPr>
              <a:t>SkillMiddleware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478024"/>
            <a:ext cx="2103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87086"/>
                </a:solidFill>
              </a:rPr>
              <a:t>skills/*/SKILL.md 탐색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87086"/>
                </a:solidFill>
              </a:rPr>
              <a:t>스킬 목록을 시스템 </a:t>
            </a:r>
            <a:r>
              <a:rPr lang="en-US" sz="1200" dirty="0" err="1">
                <a:solidFill>
                  <a:srgbClr val="687086"/>
                </a:solidFill>
              </a:rPr>
              <a:t>메시지에</a:t>
            </a:r>
            <a:r>
              <a:rPr lang="en-US" sz="1200" dirty="0">
                <a:solidFill>
                  <a:srgbClr val="687086"/>
                </a:solidFill>
              </a:rPr>
              <a:t> </a:t>
            </a:r>
            <a:r>
              <a:rPr lang="en-US" sz="1200" dirty="0" err="1">
                <a:solidFill>
                  <a:srgbClr val="687086"/>
                </a:solidFill>
              </a:rPr>
              <a:t>추가</a:t>
            </a:r>
            <a:r>
              <a:rPr lang="en-US" sz="1200" dirty="0"/>
              <a:t>. </a:t>
            </a:r>
            <a:r>
              <a:rPr lang="en-US" sz="1200" dirty="0" err="1">
                <a:solidFill>
                  <a:srgbClr val="687086"/>
                </a:solidFill>
              </a:rPr>
              <a:t>필요</a:t>
            </a:r>
            <a:r>
              <a:rPr lang="en-US" sz="1200" dirty="0">
                <a:solidFill>
                  <a:srgbClr val="687086"/>
                </a:solidFill>
              </a:rPr>
              <a:t> 시 </a:t>
            </a:r>
            <a:r>
              <a:rPr lang="en-US" sz="1200" dirty="0" err="1">
                <a:solidFill>
                  <a:srgbClr val="687086"/>
                </a:solidFill>
              </a:rPr>
              <a:t>load_skill</a:t>
            </a:r>
            <a:r>
              <a:rPr lang="en-US" sz="1200" dirty="0">
                <a:solidFill>
                  <a:srgbClr val="687086"/>
                </a:solidFill>
              </a:rPr>
              <a:t> </a:t>
            </a:r>
            <a:r>
              <a:rPr lang="en-US" sz="1200" dirty="0" err="1">
                <a:solidFill>
                  <a:srgbClr val="687086"/>
                </a:solidFill>
              </a:rPr>
              <a:t>호출</a:t>
            </a:r>
            <a:endParaRPr lang="en-US" sz="1200" dirty="0">
              <a:solidFill>
                <a:srgbClr val="687086"/>
              </a:solidFill>
            </a:endParaRPr>
          </a:p>
          <a:p>
            <a:pPr marL="0" indent="0">
              <a:buNone/>
            </a:pPr>
            <a:endParaRPr lang="en-US" sz="1200" dirty="0">
              <a:solidFill>
                <a:srgbClr val="687086"/>
              </a:solidFill>
            </a:endParaRPr>
          </a:p>
          <a:p>
            <a:pPr marL="0" indent="0">
              <a:buNone/>
            </a:pPr>
            <a:r>
              <a:rPr lang="en-US" altLang="ko-KR" sz="1200" dirty="0">
                <a:solidFill>
                  <a:srgbClr val="687086"/>
                </a:solidFill>
              </a:rPr>
              <a:t>[</a:t>
            </a:r>
            <a:r>
              <a:rPr lang="ko-KR" altLang="en-US" sz="1200" dirty="0">
                <a:solidFill>
                  <a:srgbClr val="687086"/>
                </a:solidFill>
              </a:rPr>
              <a:t>필요한 스킬을 모델에 제공</a:t>
            </a:r>
            <a:r>
              <a:rPr lang="en-US" altLang="ko-KR" sz="1200" dirty="0">
                <a:solidFill>
                  <a:srgbClr val="687086"/>
                </a:solidFill>
              </a:rPr>
              <a:t>]</a:t>
            </a:r>
            <a:endParaRPr lang="en-US" sz="1200" dirty="0">
              <a:solidFill>
                <a:srgbClr val="687086"/>
              </a:solidFill>
            </a:endParaRPr>
          </a:p>
          <a:p>
            <a:pPr marL="0" indent="0">
              <a:buNone/>
            </a:pPr>
            <a:endParaRPr lang="en-US" sz="1200" dirty="0">
              <a:solidFill>
                <a:srgbClr val="687086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3429000" y="1874520"/>
            <a:ext cx="24688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2D7F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3593592" y="2039112"/>
            <a:ext cx="384048" cy="384048"/>
          </a:xfrm>
          <a:prstGeom prst="ellipse">
            <a:avLst/>
          </a:prstGeom>
          <a:solidFill>
            <a:srgbClr val="2D7FF9"/>
          </a:solidFill>
          <a:ln w="12700">
            <a:solidFill>
              <a:srgbClr val="2D7F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593592" y="204825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087368" y="2020824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1B33"/>
                </a:solidFill>
              </a:rPr>
              <a:t>workspace_index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11880" y="2478024"/>
            <a:ext cx="2103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87086"/>
                </a:solidFill>
              </a:rPr>
              <a:t>최대 3단계 깊이 스캔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87086"/>
                </a:solidFill>
              </a:rPr>
              <a:t>.md/.csv/.txt 목록 주입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87086"/>
                </a:solidFill>
              </a:rPr>
              <a:t>반복 list </a:t>
            </a:r>
            <a:r>
              <a:rPr lang="en-US" sz="1200" dirty="0" err="1">
                <a:solidFill>
                  <a:srgbClr val="687086"/>
                </a:solidFill>
              </a:rPr>
              <a:t>호출</a:t>
            </a:r>
            <a:r>
              <a:rPr lang="en-US" sz="1200" dirty="0">
                <a:solidFill>
                  <a:srgbClr val="687086"/>
                </a:solidFill>
              </a:rPr>
              <a:t> </a:t>
            </a:r>
            <a:r>
              <a:rPr lang="en-US" sz="1200" dirty="0" err="1">
                <a:solidFill>
                  <a:srgbClr val="687086"/>
                </a:solidFill>
              </a:rPr>
              <a:t>절감</a:t>
            </a:r>
            <a:r>
              <a:rPr lang="en-US" sz="1200" dirty="0">
                <a:solidFill>
                  <a:srgbClr val="687086"/>
                </a:solidFill>
              </a:rPr>
              <a:t>.</a:t>
            </a:r>
          </a:p>
          <a:p>
            <a:pPr marL="0" indent="0">
              <a:buNone/>
            </a:pPr>
            <a:endParaRPr lang="en-US" sz="1200" dirty="0">
              <a:solidFill>
                <a:srgbClr val="687086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687086"/>
                </a:solidFill>
              </a:rPr>
              <a:t>[</a:t>
            </a:r>
            <a:r>
              <a:rPr lang="ko-KR" altLang="en-US" sz="1200" dirty="0">
                <a:solidFill>
                  <a:srgbClr val="687086"/>
                </a:solidFill>
              </a:rPr>
              <a:t>작업 공간 파일을 미리 파악</a:t>
            </a:r>
            <a:r>
              <a:rPr lang="en-US" sz="1200" dirty="0">
                <a:solidFill>
                  <a:srgbClr val="687086"/>
                </a:solidFill>
              </a:rPr>
              <a:t>]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1874520"/>
            <a:ext cx="24688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37C99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6382512" y="2039112"/>
            <a:ext cx="384048" cy="384048"/>
          </a:xfrm>
          <a:prstGeom prst="ellipse">
            <a:avLst/>
          </a:prstGeom>
          <a:solidFill>
            <a:srgbClr val="37C99B"/>
          </a:solidFill>
          <a:ln w="12700">
            <a:solidFill>
              <a:srgbClr val="37C99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382512" y="204825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76288" y="2020824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1B33"/>
                </a:solidFill>
              </a:rPr>
              <a:t>profile injection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2478024"/>
            <a:ext cx="2103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687086"/>
                </a:solidFill>
              </a:rPr>
              <a:t>사용자의 </a:t>
            </a:r>
            <a:r>
              <a:rPr lang="en-US" sz="1200" dirty="0" err="1">
                <a:solidFill>
                  <a:srgbClr val="687086"/>
                </a:solidFill>
              </a:rPr>
              <a:t>전공·학년·관심·지역·혜택을</a:t>
            </a:r>
            <a:r>
              <a:rPr lang="en-US" sz="1200" dirty="0"/>
              <a:t> </a:t>
            </a:r>
            <a:r>
              <a:rPr lang="en-US" sz="1200" dirty="0" err="1">
                <a:solidFill>
                  <a:srgbClr val="687086"/>
                </a:solidFill>
              </a:rPr>
              <a:t>시스템</a:t>
            </a:r>
            <a:r>
              <a:rPr lang="en-US" sz="1200" dirty="0">
                <a:solidFill>
                  <a:srgbClr val="687086"/>
                </a:solidFill>
              </a:rPr>
              <a:t> </a:t>
            </a:r>
            <a:r>
              <a:rPr lang="en-US" sz="1200" dirty="0" err="1">
                <a:solidFill>
                  <a:srgbClr val="687086"/>
                </a:solidFill>
              </a:rPr>
              <a:t>메시지에</a:t>
            </a:r>
            <a:r>
              <a:rPr lang="en-US" sz="1200" dirty="0">
                <a:solidFill>
                  <a:srgbClr val="687086"/>
                </a:solidFill>
              </a:rPr>
              <a:t> </a:t>
            </a:r>
            <a:r>
              <a:rPr lang="en-US" sz="1200" dirty="0" err="1">
                <a:solidFill>
                  <a:srgbClr val="687086"/>
                </a:solidFill>
              </a:rPr>
              <a:t>주입</a:t>
            </a:r>
            <a:r>
              <a:rPr lang="en-US" sz="1200" dirty="0">
                <a:solidFill>
                  <a:srgbClr val="687086"/>
                </a:solidFill>
              </a:rPr>
              <a:t>.</a:t>
            </a:r>
            <a:endParaRPr lang="en-US" sz="1200" dirty="0"/>
          </a:p>
          <a:p>
            <a:pPr marL="0" indent="0">
              <a:buNone/>
            </a:pPr>
            <a:endParaRPr lang="en-US" sz="1200" dirty="0">
              <a:solidFill>
                <a:srgbClr val="687086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687086"/>
                </a:solidFill>
              </a:rPr>
              <a:t>[</a:t>
            </a:r>
            <a:r>
              <a:rPr lang="ko-KR" altLang="en-US" sz="1200" dirty="0">
                <a:solidFill>
                  <a:srgbClr val="687086"/>
                </a:solidFill>
              </a:rPr>
              <a:t>사용자 맞춤 개인화</a:t>
            </a:r>
            <a:r>
              <a:rPr lang="en-US" sz="1200" dirty="0">
                <a:solidFill>
                  <a:srgbClr val="687086"/>
                </a:solidFill>
              </a:rPr>
              <a:t>]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006840" y="1874520"/>
            <a:ext cx="24688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9171432" y="2039112"/>
            <a:ext cx="384048" cy="38404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9171432" y="204825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65208" y="2020824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1B33"/>
                </a:solidFill>
              </a:rPr>
              <a:t>auto backup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89720" y="2478024"/>
            <a:ext cx="2103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87086"/>
                </a:solidFill>
              </a:rPr>
              <a:t>변경 도구 호출을 감싸고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87086"/>
                </a:solidFill>
              </a:rPr>
              <a:t>기존 파일을 타임스탬프 백업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87086"/>
                </a:solidFill>
              </a:rPr>
              <a:t>실패해도 원 </a:t>
            </a:r>
            <a:r>
              <a:rPr lang="en-US" sz="1200" dirty="0" err="1">
                <a:solidFill>
                  <a:srgbClr val="687086"/>
                </a:solidFill>
              </a:rPr>
              <a:t>작업</a:t>
            </a:r>
            <a:r>
              <a:rPr lang="en-US" sz="1200" dirty="0">
                <a:solidFill>
                  <a:srgbClr val="687086"/>
                </a:solidFill>
              </a:rPr>
              <a:t> </a:t>
            </a:r>
            <a:r>
              <a:rPr lang="en-US" sz="1200" dirty="0" err="1">
                <a:solidFill>
                  <a:srgbClr val="687086"/>
                </a:solidFill>
              </a:rPr>
              <a:t>진행</a:t>
            </a:r>
            <a:r>
              <a:rPr lang="en-US" sz="1200" dirty="0">
                <a:solidFill>
                  <a:srgbClr val="687086"/>
                </a:solidFill>
              </a:rPr>
              <a:t>.</a:t>
            </a:r>
          </a:p>
          <a:p>
            <a:pPr marL="0" indent="0">
              <a:buNone/>
            </a:pPr>
            <a:endParaRPr lang="en-US" sz="1200" dirty="0">
              <a:solidFill>
                <a:srgbClr val="687086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687086"/>
                </a:solidFill>
              </a:rPr>
              <a:t>[</a:t>
            </a:r>
            <a:r>
              <a:rPr lang="ko-KR" altLang="en-US" sz="1200" dirty="0">
                <a:solidFill>
                  <a:srgbClr val="687086"/>
                </a:solidFill>
              </a:rPr>
              <a:t>파일 수정 전</a:t>
            </a:r>
            <a:r>
              <a:rPr lang="en-US" altLang="ko-KR" sz="1200" dirty="0">
                <a:solidFill>
                  <a:srgbClr val="687086"/>
                </a:solidFill>
              </a:rPr>
              <a:t>, </a:t>
            </a:r>
            <a:r>
              <a:rPr lang="ko-KR" altLang="en-US" sz="1200" dirty="0">
                <a:solidFill>
                  <a:srgbClr val="687086"/>
                </a:solidFill>
              </a:rPr>
              <a:t>백업</a:t>
            </a:r>
            <a:r>
              <a:rPr lang="en-US" altLang="ko-KR" sz="1200" dirty="0">
                <a:solidFill>
                  <a:srgbClr val="687086"/>
                </a:solidFill>
              </a:rPr>
              <a:t>. </a:t>
            </a:r>
            <a:r>
              <a:rPr lang="ko-KR" altLang="en-US" sz="1200" dirty="0">
                <a:solidFill>
                  <a:srgbClr val="687086"/>
                </a:solidFill>
              </a:rPr>
              <a:t>안전장치</a:t>
            </a:r>
            <a:r>
              <a:rPr lang="en-US" sz="1200" dirty="0">
                <a:solidFill>
                  <a:srgbClr val="687086"/>
                </a:solidFill>
              </a:rPr>
              <a:t>]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5800" y="44348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87086"/>
                </a:solidFill>
              </a:rPr>
              <a:t>구현 위치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874520" y="4434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5FEF"/>
                </a:solidFill>
              </a:rPr>
              <a:t>skill_runtime.py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794760" y="44348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7FF9"/>
                </a:solidFill>
              </a:rPr>
              <a:t>middleware.py @before_agent / @wrap_tool_call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85800" y="5010912"/>
            <a:ext cx="10789920" cy="822960"/>
          </a:xfrm>
          <a:prstGeom prst="roundRect">
            <a:avLst>
              <a:gd name="adj" fmla="val 5556"/>
            </a:avLst>
          </a:prstGeom>
          <a:solidFill>
            <a:srgbClr val="151B33"/>
          </a:solidFill>
          <a:ln w="12700">
            <a:solidFill>
              <a:srgbClr val="151B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988254" y="5258976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별도 StateGraph: MemorySaver + mock USER_DB 기반 프로필 온보딩 → 추천 노드 분기</a:t>
            </a:r>
            <a:endParaRPr lang="en-US" sz="15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198A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9436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5B5FEF"/>
                </a:solidFill>
              </a:rPr>
              <a:t>08 · SKILLS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1B33"/>
                </a:solidFill>
              </a:rPr>
              <a:t>요청 유형별 “작업 절차”를 동적으로 불러옴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" y="139903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87086"/>
                </a:solidFill>
              </a:rPr>
              <a:t>도구가 기능이라면 스킬은 도구를 어떤 순서와 기준으로 쓸지 정의함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342900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CE1EA"/>
            </a:solidFill>
            <a:prstDash val="solid"/>
          </a:ln>
          <a:effectLst>
            <a:outerShdw blurRad="12700" dist="50800" dir="2700000" algn="bl" rotWithShape="0">
              <a:srgbClr val="B7BDCC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64008" cy="3154680"/>
          </a:xfrm>
          <a:prstGeom prst="rect">
            <a:avLst/>
          </a:prstGeom>
          <a:solidFill>
            <a:srgbClr val="5B5FEF"/>
          </a:solidFill>
          <a:ln w="12700">
            <a:solidFill>
              <a:srgbClr val="5B5F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68680" y="20391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B33"/>
                </a:solidFill>
              </a:rPr>
              <a:t>activity-data-analyst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404872"/>
            <a:ext cx="2990088" cy="2496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 err="1">
                <a:solidFill>
                  <a:srgbClr val="20263A"/>
                </a:solidFill>
              </a:rPr>
              <a:t>트리거</a:t>
            </a:r>
            <a:r>
              <a:rPr lang="en-US" sz="1400" dirty="0">
                <a:solidFill>
                  <a:srgbClr val="20263A"/>
                </a:solidFill>
              </a:rPr>
              <a:t>  </a:t>
            </a:r>
            <a:r>
              <a:rPr lang="en-US" sz="1400" dirty="0" err="1">
                <a:solidFill>
                  <a:srgbClr val="20263A"/>
                </a:solidFill>
              </a:rPr>
              <a:t>계산·정렬·통계</a:t>
            </a:r>
            <a:r>
              <a:rPr lang="en-US" sz="1400" dirty="0">
                <a:solidFill>
                  <a:srgbClr val="20263A"/>
                </a:solidFill>
              </a:rPr>
              <a:t> </a:t>
            </a:r>
            <a:r>
              <a:rPr lang="en-US" sz="1400" dirty="0" err="1">
                <a:solidFill>
                  <a:srgbClr val="20263A"/>
                </a:solidFill>
              </a:rPr>
              <a:t>비교</a:t>
            </a:r>
            <a:r>
              <a:rPr lang="en-US" sz="1400" dirty="0">
                <a:solidFill>
                  <a:srgbClr val="20263A"/>
                </a:solidFill>
              </a:rPr>
              <a:t> </a:t>
            </a:r>
            <a:r>
              <a:rPr lang="ko-KR" altLang="en-US" sz="1400" dirty="0">
                <a:solidFill>
                  <a:srgbClr val="20263A"/>
                </a:solidFill>
              </a:rPr>
              <a:t>분석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>
                <a:solidFill>
                  <a:srgbClr val="20263A"/>
                </a:solidFill>
              </a:rPr>
              <a:t>흐름</a:t>
            </a:r>
            <a:endParaRPr lang="en-US" sz="1400" dirty="0"/>
          </a:p>
          <a:p>
            <a:r>
              <a:rPr lang="en-US" sz="1400" dirty="0">
                <a:solidFill>
                  <a:srgbClr val="20263A"/>
                </a:solidFill>
              </a:rPr>
              <a:t>1. 공고 JSON 수집</a:t>
            </a:r>
            <a:endParaRPr lang="en-US" sz="1400" dirty="0"/>
          </a:p>
          <a:p>
            <a:r>
              <a:rPr lang="en-US" sz="1400" dirty="0">
                <a:solidFill>
                  <a:srgbClr val="20263A"/>
                </a:solidFill>
              </a:rPr>
              <a:t>2. Python으로 D-day·금액·비중 계산</a:t>
            </a:r>
            <a:endParaRPr lang="en-US" sz="1400" dirty="0"/>
          </a:p>
          <a:p>
            <a:r>
              <a:rPr lang="en-US" sz="1400" dirty="0">
                <a:solidFill>
                  <a:srgbClr val="20263A"/>
                </a:solidFill>
              </a:rPr>
              <a:t>3. 순위와 분석 요약 제공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>
                <a:solidFill>
                  <a:srgbClr val="20263A"/>
                </a:solidFill>
              </a:rPr>
              <a:t>주의  안전한 수치 연산만 수행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89120" y="1874520"/>
            <a:ext cx="342900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CE1EA"/>
            </a:solidFill>
            <a:prstDash val="solid"/>
          </a:ln>
          <a:effectLst>
            <a:outerShdw blurRad="12700" dist="50800" dir="2700000" algn="bl" rotWithShape="0">
              <a:srgbClr val="B7BDCC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389120" y="1874520"/>
            <a:ext cx="64008" cy="3154680"/>
          </a:xfrm>
          <a:prstGeom prst="rect">
            <a:avLst/>
          </a:prstGeom>
          <a:solidFill>
            <a:srgbClr val="2D7FF9"/>
          </a:solidFill>
          <a:ln w="12700">
            <a:solidFill>
              <a:srgbClr val="2D7F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617720" y="20391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B33"/>
                </a:solidFill>
              </a:rPr>
              <a:t>activity-search-and-analysis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17720" y="2404872"/>
            <a:ext cx="2990088" cy="2496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400" dirty="0">
                <a:solidFill>
                  <a:srgbClr val="20263A"/>
                </a:solidFill>
              </a:rPr>
              <a:t>조건</a:t>
            </a:r>
            <a:r>
              <a:rPr lang="en-US" sz="1400" dirty="0">
                <a:solidFill>
                  <a:srgbClr val="20263A"/>
                </a:solidFill>
              </a:rPr>
              <a:t>  </a:t>
            </a:r>
            <a:r>
              <a:rPr lang="en-US" sz="1400" dirty="0" err="1">
                <a:solidFill>
                  <a:srgbClr val="20263A"/>
                </a:solidFill>
              </a:rPr>
              <a:t>검색·필터·비교·평가</a:t>
            </a:r>
            <a:r>
              <a:rPr lang="en-US" sz="1400" dirty="0">
                <a:solidFill>
                  <a:srgbClr val="20263A"/>
                </a:solidFill>
              </a:rPr>
              <a:t> </a:t>
            </a:r>
            <a:r>
              <a:rPr lang="ko-KR" altLang="en-US" sz="1400" dirty="0">
                <a:solidFill>
                  <a:srgbClr val="20263A"/>
                </a:solidFill>
              </a:rPr>
              <a:t>후 추천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>
                <a:solidFill>
                  <a:srgbClr val="20263A"/>
                </a:solidFill>
              </a:rPr>
              <a:t>흐름</a:t>
            </a:r>
            <a:endParaRPr lang="en-US" sz="1400" dirty="0"/>
          </a:p>
          <a:p>
            <a:r>
              <a:rPr lang="en-US" sz="1400" dirty="0">
                <a:solidFill>
                  <a:srgbClr val="20263A"/>
                </a:solidFill>
              </a:rPr>
              <a:t>1. 조건 추출</a:t>
            </a:r>
            <a:endParaRPr lang="en-US" sz="1400" dirty="0"/>
          </a:p>
          <a:p>
            <a:r>
              <a:rPr lang="en-US" sz="1400" dirty="0">
                <a:solidFill>
                  <a:srgbClr val="20263A"/>
                </a:solidFill>
              </a:rPr>
              <a:t>2. 전문 사이트 실시간 검색</a:t>
            </a:r>
            <a:endParaRPr lang="en-US" sz="1400" dirty="0"/>
          </a:p>
          <a:p>
            <a:r>
              <a:rPr lang="en-US" sz="1400" dirty="0">
                <a:solidFill>
                  <a:srgbClr val="20263A"/>
                </a:solidFill>
              </a:rPr>
              <a:t>3. 일반 웹으로 교차 검증</a:t>
            </a:r>
            <a:endParaRPr lang="en-US" sz="1400" dirty="0"/>
          </a:p>
          <a:p>
            <a:r>
              <a:rPr lang="en-US" sz="1400" dirty="0">
                <a:solidFill>
                  <a:srgbClr val="20263A"/>
                </a:solidFill>
              </a:rPr>
              <a:t>4. 근거 있는 후보만 비교</a:t>
            </a:r>
            <a:endParaRPr lang="en-US" sz="1400" dirty="0"/>
          </a:p>
          <a:p>
            <a:r>
              <a:rPr lang="en-US" sz="1400" dirty="0">
                <a:solidFill>
                  <a:srgbClr val="20263A"/>
                </a:solidFill>
              </a:rPr>
              <a:t>5. 원본 URL 포함 순위 제공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38160" y="1874520"/>
            <a:ext cx="342900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CE1EA"/>
            </a:solidFill>
            <a:prstDash val="solid"/>
          </a:ln>
          <a:effectLst>
            <a:outerShdw blurRad="12700" dist="50800" dir="2700000" algn="bl" rotWithShape="0">
              <a:srgbClr val="B7BDCC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8138160" y="1874520"/>
            <a:ext cx="64008" cy="315468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366760" y="20391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B33"/>
                </a:solidFill>
              </a:rPr>
              <a:t>trending-and-review-finder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66760" y="2404872"/>
            <a:ext cx="2990088" cy="2496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20263A"/>
                </a:solidFill>
              </a:rPr>
              <a:t> 후기·합격 </a:t>
            </a:r>
            <a:r>
              <a:rPr lang="en-US" sz="1400" dirty="0" err="1">
                <a:solidFill>
                  <a:srgbClr val="20263A"/>
                </a:solidFill>
              </a:rPr>
              <a:t>팁·면접</a:t>
            </a:r>
            <a:r>
              <a:rPr lang="en-US" sz="1400" dirty="0">
                <a:solidFill>
                  <a:srgbClr val="20263A"/>
                </a:solidFill>
              </a:rPr>
              <a:t> </a:t>
            </a:r>
            <a:r>
              <a:rPr lang="en-US" sz="1400" dirty="0" err="1">
                <a:solidFill>
                  <a:srgbClr val="20263A"/>
                </a:solidFill>
              </a:rPr>
              <a:t>질문</a:t>
            </a:r>
            <a:r>
              <a:rPr lang="en-US" sz="1400" dirty="0">
                <a:solidFill>
                  <a:srgbClr val="20263A"/>
                </a:solidFill>
              </a:rPr>
              <a:t> </a:t>
            </a:r>
            <a:r>
              <a:rPr lang="ko-KR" altLang="en-US" sz="1400" dirty="0">
                <a:solidFill>
                  <a:srgbClr val="20263A"/>
                </a:solidFill>
              </a:rPr>
              <a:t>최신동향 조사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>
                <a:solidFill>
                  <a:srgbClr val="20263A"/>
                </a:solidFill>
              </a:rPr>
              <a:t>흐름</a:t>
            </a:r>
            <a:endParaRPr lang="en-US" sz="1400" dirty="0"/>
          </a:p>
          <a:p>
            <a:r>
              <a:rPr lang="en-US" sz="1400" dirty="0">
                <a:solidFill>
                  <a:srgbClr val="20263A"/>
                </a:solidFill>
              </a:rPr>
              <a:t>1. 대상과 기간 특정</a:t>
            </a:r>
            <a:endParaRPr lang="en-US" sz="1400" dirty="0"/>
          </a:p>
          <a:p>
            <a:r>
              <a:rPr lang="en-US" sz="1400" dirty="0">
                <a:solidFill>
                  <a:srgbClr val="20263A"/>
                </a:solidFill>
              </a:rPr>
              <a:t>2. 연관 키워드 생성</a:t>
            </a:r>
            <a:endParaRPr lang="en-US" sz="1400" dirty="0"/>
          </a:p>
          <a:p>
            <a:r>
              <a:rPr lang="en-US" sz="1400" dirty="0">
                <a:solidFill>
                  <a:srgbClr val="20263A"/>
                </a:solidFill>
              </a:rPr>
              <a:t>3. 후기·공식 공지 검색</a:t>
            </a:r>
            <a:endParaRPr lang="en-US" sz="1400" dirty="0"/>
          </a:p>
          <a:p>
            <a:r>
              <a:rPr lang="en-US" sz="1400" dirty="0">
                <a:solidFill>
                  <a:srgbClr val="20263A"/>
                </a:solidFill>
              </a:rPr>
              <a:t>4. 공식 사실/경험담 분리</a:t>
            </a:r>
            <a:endParaRPr lang="en-US" sz="1400" dirty="0"/>
          </a:p>
          <a:p>
            <a:r>
              <a:rPr lang="en-US" sz="1400" dirty="0">
                <a:solidFill>
                  <a:srgbClr val="20263A"/>
                </a:solidFill>
              </a:rPr>
              <a:t>5. 반복 패턴과 이견 요약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5577840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400" dirty="0"/>
              <a:t>사용자 요청</a:t>
            </a:r>
            <a:r>
              <a:rPr lang="en-US" altLang="ko-KR" sz="1400" dirty="0"/>
              <a:t> </a:t>
            </a:r>
            <a:r>
              <a:rPr lang="en-US" altLang="ko-KR" sz="1400" dirty="0">
                <a:sym typeface="Wingdings" panose="05000000000000000000" pitchFamily="2" charset="2"/>
              </a:rPr>
              <a:t> </a:t>
            </a:r>
            <a:r>
              <a:rPr lang="ko-KR" altLang="en-US" sz="1400" dirty="0">
                <a:sym typeface="Wingdings" panose="05000000000000000000" pitchFamily="2" charset="2"/>
              </a:rPr>
              <a:t>에이전트가 적합한 스킬 선택 </a:t>
            </a:r>
            <a:r>
              <a:rPr lang="en-US" altLang="ko-KR" sz="1400" dirty="0">
                <a:sym typeface="Wingdings" panose="05000000000000000000" pitchFamily="2" charset="2"/>
              </a:rPr>
              <a:t> load skill</a:t>
            </a:r>
            <a:r>
              <a:rPr lang="ko-KR" altLang="en-US" sz="1400" dirty="0">
                <a:sym typeface="Wingdings" panose="05000000000000000000" pitchFamily="2" charset="2"/>
              </a:rPr>
              <a:t>로 세부 지침 로드</a:t>
            </a:r>
            <a:r>
              <a:rPr lang="en-US" altLang="ko-KR" sz="1400" dirty="0">
                <a:sym typeface="Wingdings" panose="05000000000000000000" pitchFamily="2" charset="2"/>
              </a:rPr>
              <a:t>  </a:t>
            </a:r>
            <a:r>
              <a:rPr lang="ko-KR" altLang="en-US" sz="1400" dirty="0">
                <a:sym typeface="Wingdings" panose="05000000000000000000" pitchFamily="2" charset="2"/>
              </a:rPr>
              <a:t>지침에 따른 도구 실행 </a:t>
            </a:r>
            <a:r>
              <a:rPr lang="en-US" altLang="ko-KR" sz="1400" dirty="0">
                <a:sym typeface="Wingdings" panose="05000000000000000000" pitchFamily="2" charset="2"/>
              </a:rPr>
              <a:t> </a:t>
            </a:r>
            <a:r>
              <a:rPr lang="ko-KR" altLang="en-US" sz="1400" dirty="0">
                <a:sym typeface="Wingdings" panose="05000000000000000000" pitchFamily="2" charset="2"/>
              </a:rPr>
              <a:t>결과 제공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198A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9436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5B5FEF"/>
                </a:solidFill>
              </a:rPr>
              <a:t>09 · END-TO-END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1B33"/>
                </a:solidFill>
              </a:rPr>
              <a:t>한 질문이 답변으로 바뀌는 실제 처리 흐름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" y="139903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87086"/>
                </a:solidFill>
              </a:rPr>
              <a:t>검색 정확성과 개인화를 동시에 </a:t>
            </a:r>
            <a:r>
              <a:rPr lang="en-US" sz="1200" dirty="0" err="1">
                <a:solidFill>
                  <a:srgbClr val="687086"/>
                </a:solidFill>
              </a:rPr>
              <a:t>확보하는</a:t>
            </a:r>
            <a:r>
              <a:rPr lang="en-US" sz="1200" dirty="0">
                <a:solidFill>
                  <a:srgbClr val="687086"/>
                </a:solidFill>
              </a:rPr>
              <a:t> </a:t>
            </a:r>
            <a:r>
              <a:rPr lang="en-US" sz="1200" dirty="0" err="1">
                <a:solidFill>
                  <a:srgbClr val="687086"/>
                </a:solidFill>
              </a:rPr>
              <a:t>경로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1600200" cy="187452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9050">
            <a:solidFill>
              <a:srgbClr val="5B5F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67512" y="2313432"/>
            <a:ext cx="384048" cy="384048"/>
          </a:xfrm>
          <a:prstGeom prst="ellipse">
            <a:avLst/>
          </a:prstGeom>
          <a:solidFill>
            <a:srgbClr val="5B5FEF"/>
          </a:solidFill>
          <a:ln w="12700">
            <a:solidFill>
              <a:srgbClr val="5B5F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67512" y="232257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61288" y="2295144"/>
            <a:ext cx="795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1B33"/>
                </a:solidFill>
              </a:rPr>
              <a:t>조건 추출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752344"/>
            <a:ext cx="1234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87086"/>
                </a:solidFill>
              </a:rPr>
              <a:t>AI · 서울 · 활동비 · 이번 달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148840" y="2907792"/>
            <a:ext cx="228600" cy="301752"/>
          </a:xfrm>
          <a:prstGeom prst="chevron">
            <a:avLst/>
          </a:prstGeom>
          <a:solidFill>
            <a:srgbClr val="C9CEE0"/>
          </a:solidFill>
          <a:ln w="12700">
            <a:solidFill>
              <a:srgbClr val="C9CE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423160" y="2148840"/>
            <a:ext cx="1600200" cy="187452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9050">
            <a:solidFill>
              <a:srgbClr val="5B5F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2587752" y="2313432"/>
            <a:ext cx="384048" cy="384048"/>
          </a:xfrm>
          <a:prstGeom prst="ellipse">
            <a:avLst/>
          </a:prstGeom>
          <a:solidFill>
            <a:srgbClr val="5B5FEF"/>
          </a:solidFill>
          <a:ln w="12700">
            <a:solidFill>
              <a:srgbClr val="5B5F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587752" y="232257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081528" y="2295144"/>
            <a:ext cx="795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1B33"/>
                </a:solidFill>
              </a:rPr>
              <a:t>스킬 선택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06040" y="2752344"/>
            <a:ext cx="1234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87086"/>
                </a:solidFill>
              </a:rPr>
              <a:t>activity-search-and-analysis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069080" y="2907792"/>
            <a:ext cx="228600" cy="301752"/>
          </a:xfrm>
          <a:prstGeom prst="chevron">
            <a:avLst/>
          </a:prstGeom>
          <a:solidFill>
            <a:srgbClr val="C9CEE0"/>
          </a:solidFill>
          <a:ln w="12700">
            <a:solidFill>
              <a:srgbClr val="C9CE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4343400" y="2148840"/>
            <a:ext cx="1600200" cy="187452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9050">
            <a:solidFill>
              <a:srgbClr val="2D7F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507992" y="2313432"/>
            <a:ext cx="384048" cy="384048"/>
          </a:xfrm>
          <a:prstGeom prst="ellipse">
            <a:avLst/>
          </a:prstGeom>
          <a:solidFill>
            <a:srgbClr val="2D7FF9"/>
          </a:solidFill>
          <a:ln w="12700">
            <a:solidFill>
              <a:srgbClr val="2D7F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507992" y="232257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01768" y="2295144"/>
            <a:ext cx="795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1B33"/>
                </a:solidFill>
              </a:rPr>
              <a:t>실시간 탐색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26280" y="2752344"/>
            <a:ext cx="1234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87086"/>
                </a:solidFill>
              </a:rPr>
              <a:t>outwork_search / 전문 사이트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89320" y="2907792"/>
            <a:ext cx="228600" cy="301752"/>
          </a:xfrm>
          <a:prstGeom prst="chevron">
            <a:avLst/>
          </a:prstGeom>
          <a:solidFill>
            <a:srgbClr val="C9CEE0"/>
          </a:solidFill>
          <a:ln w="12700">
            <a:solidFill>
              <a:srgbClr val="C9CE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6263640" y="2148840"/>
            <a:ext cx="1600200" cy="187452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9050">
            <a:solidFill>
              <a:srgbClr val="2D7F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6428232" y="2313432"/>
            <a:ext cx="384048" cy="384048"/>
          </a:xfrm>
          <a:prstGeom prst="ellipse">
            <a:avLst/>
          </a:prstGeom>
          <a:solidFill>
            <a:srgbClr val="2D7FF9"/>
          </a:solidFill>
          <a:ln w="12700">
            <a:solidFill>
              <a:srgbClr val="2D7F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428232" y="232257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22008" y="2295144"/>
            <a:ext cx="795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1B33"/>
                </a:solidFill>
              </a:rPr>
              <a:t>교차 검증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46520" y="2752344"/>
            <a:ext cx="1234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87086"/>
                </a:solidFill>
              </a:rPr>
              <a:t>일반 웹 + 원본 모집 페이지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909560" y="2907792"/>
            <a:ext cx="228600" cy="301752"/>
          </a:xfrm>
          <a:prstGeom prst="chevron">
            <a:avLst/>
          </a:prstGeom>
          <a:solidFill>
            <a:srgbClr val="C9CEE0"/>
          </a:solidFill>
          <a:ln w="12700">
            <a:solidFill>
              <a:srgbClr val="C9CE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8183880" y="2148840"/>
            <a:ext cx="1600200" cy="187452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905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8348472" y="2313432"/>
            <a:ext cx="384048" cy="38404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8348472" y="232257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842248" y="2295144"/>
            <a:ext cx="795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1B33"/>
                </a:solidFill>
              </a:rPr>
              <a:t>비교·계산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366760" y="2752344"/>
            <a:ext cx="1234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87086"/>
                </a:solidFill>
              </a:rPr>
              <a:t>마감 D-day / 혜택 / 적합도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829800" y="2907792"/>
            <a:ext cx="228600" cy="301752"/>
          </a:xfrm>
          <a:prstGeom prst="chevron">
            <a:avLst/>
          </a:prstGeom>
          <a:solidFill>
            <a:srgbClr val="C9CEE0"/>
          </a:solidFill>
          <a:ln w="12700">
            <a:solidFill>
              <a:srgbClr val="C9CE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10104120" y="2148840"/>
            <a:ext cx="1600200" cy="187452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9050">
            <a:solidFill>
              <a:srgbClr val="37C99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10268712" y="2313432"/>
            <a:ext cx="384048" cy="384048"/>
          </a:xfrm>
          <a:prstGeom prst="ellipse">
            <a:avLst/>
          </a:prstGeom>
          <a:solidFill>
            <a:srgbClr val="37C99B"/>
          </a:solidFill>
          <a:ln w="12700">
            <a:solidFill>
              <a:srgbClr val="37C99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10268712" y="232257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762488" y="2295144"/>
            <a:ext cx="795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1B33"/>
                </a:solidFill>
              </a:rPr>
              <a:t>최종 응답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0287000" y="2752344"/>
            <a:ext cx="1234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87086"/>
                </a:solidFill>
              </a:rPr>
              <a:t>순위·추천 이유·URL·미검증 표시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1520" y="4709160"/>
            <a:ext cx="10698480" cy="822960"/>
          </a:xfrm>
          <a:prstGeom prst="roundRect">
            <a:avLst>
              <a:gd name="adj" fmla="val 5556"/>
            </a:avLst>
          </a:prstGeom>
          <a:solidFill>
            <a:srgbClr val="EEF8F5"/>
          </a:solidFill>
          <a:ln w="12700">
            <a:solidFill>
              <a:srgbClr val="A9DF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960120" y="494878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C99B"/>
                </a:solidFill>
              </a:rPr>
              <a:t>응답 원칙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2148840" y="4900482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263A"/>
                </a:solidFill>
              </a:rPr>
              <a:t>공식 정보와 개인 후기를 분리 · 확인되지 않은 마감/혜택은 생성하지 않음 · 최신성 필요 시 원본 출처 확인</a:t>
            </a:r>
            <a:endParaRPr lang="en-US" sz="1200" dirty="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198A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9436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5B5FEF"/>
                </a:solidFill>
              </a:rPr>
              <a:t>10 · LIVE TEST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1B33"/>
                </a:solidFill>
              </a:rPr>
              <a:t>LangGraph Studio에서 바로 던질 </a:t>
            </a:r>
            <a:r>
              <a:rPr lang="en-US" sz="2600" b="1" dirty="0" err="1">
                <a:solidFill>
                  <a:srgbClr val="151B33"/>
                </a:solidFill>
              </a:rPr>
              <a:t>질문</a:t>
            </a:r>
            <a:r>
              <a:rPr lang="en-US" sz="2600" b="1" dirty="0">
                <a:solidFill>
                  <a:srgbClr val="151B33"/>
                </a:solidFill>
              </a:rPr>
              <a:t> 6가지 (</a:t>
            </a:r>
            <a:r>
              <a:rPr lang="ko-KR" altLang="en-US" sz="2600" b="1" dirty="0">
                <a:solidFill>
                  <a:srgbClr val="151B33"/>
                </a:solidFill>
              </a:rPr>
              <a:t>실시간 시연</a:t>
            </a:r>
            <a:r>
              <a:rPr lang="en-US" altLang="ko-KR" sz="2600" b="1" dirty="0">
                <a:solidFill>
                  <a:srgbClr val="151B33"/>
                </a:solidFill>
              </a:rPr>
              <a:t>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" y="139903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87086"/>
                </a:solidFill>
              </a:rPr>
              <a:t>각 질문은 서로 다른 도구·스킬·미들웨어 동작을 보여줌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121409"/>
            <a:ext cx="5349240" cy="859536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04672" y="2286001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5FEF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25880" y="2221993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1B33"/>
                </a:solidFill>
              </a:rPr>
              <a:t>서울에서 이번 달 마감하는 AI 대외활동 5개 찾아줘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25880" y="2660905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87086"/>
                </a:solidFill>
              </a:rPr>
              <a:t>실시간 검색 + 조건 필터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63640" y="2121409"/>
            <a:ext cx="5349240" cy="859536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428232" y="2286001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5FEF"/>
                </a:solidFill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949440" y="2221993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200" b="1" dirty="0" err="1">
                <a:solidFill>
                  <a:srgbClr val="151B33"/>
                </a:solidFill>
              </a:rPr>
              <a:t>같은</a:t>
            </a:r>
            <a:r>
              <a:rPr lang="en-US" altLang="ko-KR" sz="1200" b="1" dirty="0">
                <a:solidFill>
                  <a:srgbClr val="151B33"/>
                </a:solidFill>
              </a:rPr>
              <a:t> </a:t>
            </a:r>
            <a:r>
              <a:rPr lang="en-US" altLang="ko-KR" sz="1200" b="1" dirty="0" err="1">
                <a:solidFill>
                  <a:srgbClr val="151B33"/>
                </a:solidFill>
              </a:rPr>
              <a:t>파일</a:t>
            </a:r>
            <a:r>
              <a:rPr lang="en-US" altLang="ko-KR" sz="1200" b="1" dirty="0">
                <a:solidFill>
                  <a:srgbClr val="151B33"/>
                </a:solidFill>
              </a:rPr>
              <a:t> </a:t>
            </a:r>
            <a:r>
              <a:rPr lang="en-US" altLang="ko-KR" sz="1200" b="1" dirty="0" err="1">
                <a:solidFill>
                  <a:srgbClr val="151B33"/>
                </a:solidFill>
              </a:rPr>
              <a:t>내용을</a:t>
            </a:r>
            <a:r>
              <a:rPr lang="en-US" altLang="ko-KR" sz="1200" b="1" dirty="0">
                <a:solidFill>
                  <a:srgbClr val="151B33"/>
                </a:solidFill>
              </a:rPr>
              <a:t> </a:t>
            </a:r>
            <a:r>
              <a:rPr lang="en-US" altLang="ko-KR" sz="1200" b="1" dirty="0" err="1">
                <a:solidFill>
                  <a:srgbClr val="151B33"/>
                </a:solidFill>
              </a:rPr>
              <a:t>수정해서</a:t>
            </a:r>
            <a:r>
              <a:rPr lang="en-US" altLang="ko-KR" sz="1200" b="1" dirty="0">
                <a:solidFill>
                  <a:srgbClr val="151B33"/>
                </a:solidFill>
              </a:rPr>
              <a:t> </a:t>
            </a:r>
            <a:r>
              <a:rPr lang="en-US" altLang="ko-KR" sz="1200" b="1" dirty="0" err="1">
                <a:solidFill>
                  <a:srgbClr val="151B33"/>
                </a:solidFill>
              </a:rPr>
              <a:t>우선순위를</a:t>
            </a:r>
            <a:r>
              <a:rPr lang="en-US" altLang="ko-KR" sz="1200" b="1" dirty="0">
                <a:solidFill>
                  <a:srgbClr val="151B33"/>
                </a:solidFill>
              </a:rPr>
              <a:t> </a:t>
            </a:r>
            <a:r>
              <a:rPr lang="en-US" altLang="ko-KR" sz="1200" b="1" dirty="0" err="1">
                <a:solidFill>
                  <a:srgbClr val="151B33"/>
                </a:solidFill>
              </a:rPr>
              <a:t>바꿔줘</a:t>
            </a:r>
            <a:endParaRPr lang="en-US" altLang="ko-KR" sz="1200" dirty="0"/>
          </a:p>
        </p:txBody>
      </p:sp>
      <p:sp>
        <p:nvSpPr>
          <p:cNvPr id="12" name="Text 10"/>
          <p:cNvSpPr/>
          <p:nvPr/>
        </p:nvSpPr>
        <p:spPr>
          <a:xfrm>
            <a:off x="6949440" y="2660905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687086"/>
                </a:solidFill>
              </a:rPr>
              <a:t>auto backup </a:t>
            </a:r>
            <a:r>
              <a:rPr lang="en-US" altLang="ko-KR" sz="1000" dirty="0" err="1">
                <a:solidFill>
                  <a:srgbClr val="687086"/>
                </a:solidFill>
              </a:rPr>
              <a:t>미들웨어</a:t>
            </a:r>
            <a:endParaRPr lang="en-US" altLang="ko-KR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3200401"/>
            <a:ext cx="5349240" cy="859536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804672" y="3364993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7FF9"/>
                </a:solidFill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325880" y="3300985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1B33"/>
                </a:solidFill>
              </a:rPr>
              <a:t>내 관심 분야가 마케팅과 AI인데 가장 잘 맞는 3개와 이유를 알려줘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25880" y="3739897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87086"/>
                </a:solidFill>
              </a:rPr>
              <a:t>프로필 주입 + 맞춤 추천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63640" y="3200401"/>
            <a:ext cx="5349240" cy="859536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428232" y="3364993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7FF9"/>
                </a:solidFill>
              </a:rPr>
              <a:t>04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949440" y="3300985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1B33"/>
                </a:solidFill>
              </a:rPr>
              <a:t>1위 공고의 공식 모집 페이지 링크와 지원 자격을 다시 확인해줘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49440" y="3739897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87086"/>
                </a:solidFill>
              </a:rPr>
              <a:t>원본 URL + 교차 검증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4279393"/>
            <a:ext cx="5349240" cy="859536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804672" y="4443985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7C99B"/>
                </a:solidFill>
              </a:rPr>
              <a:t>05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325880" y="4379977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B33"/>
                </a:solidFill>
              </a:rPr>
              <a:t>그 활동의 최근 합격 후기, 면접 질문, 준비 팁을 찾아줘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25880" y="4818889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87086"/>
                </a:solidFill>
              </a:rPr>
              <a:t>트렌드·후기 스킬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63640" y="4279393"/>
            <a:ext cx="5349240" cy="859536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428232" y="4443985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7C99B"/>
                </a:solidFill>
              </a:rPr>
              <a:t>06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949440" y="4379977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1B33"/>
                </a:solidFill>
              </a:rPr>
              <a:t>추천 결과를 application_plan.md로 저장해줘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949440" y="4818889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87086"/>
                </a:solidFill>
              </a:rPr>
              <a:t>write_file + workspace index</a:t>
            </a:r>
            <a:endParaRPr lang="en-US" sz="10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198A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9436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5B5FEF"/>
                </a:solidFill>
              </a:rPr>
              <a:t>11 · DEMO CHECKLIST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1B33"/>
                </a:solidFill>
              </a:rPr>
              <a:t>“정확한 답”보다 “근거 있는 </a:t>
            </a:r>
            <a:r>
              <a:rPr lang="en-US" sz="2600" b="1" dirty="0" err="1">
                <a:solidFill>
                  <a:srgbClr val="151B33"/>
                </a:solidFill>
              </a:rPr>
              <a:t>흐름</a:t>
            </a:r>
            <a:r>
              <a:rPr lang="en-US" sz="2600" b="1" dirty="0">
                <a:solidFill>
                  <a:srgbClr val="151B33"/>
                </a:solidFill>
              </a:rPr>
              <a:t>”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" y="139903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87086"/>
                </a:solidFill>
              </a:rPr>
              <a:t>검색 결과가 달라도 아래 검증 </a:t>
            </a:r>
            <a:r>
              <a:rPr lang="en-US" sz="1200" dirty="0" err="1">
                <a:solidFill>
                  <a:srgbClr val="687086"/>
                </a:solidFill>
              </a:rPr>
              <a:t>포인트를</a:t>
            </a:r>
            <a:r>
              <a:rPr lang="en-US" sz="1200" dirty="0">
                <a:solidFill>
                  <a:srgbClr val="687086"/>
                </a:solidFill>
              </a:rPr>
              <a:t> </a:t>
            </a:r>
            <a:r>
              <a:rPr lang="en-US" sz="1200" dirty="0" err="1">
                <a:solidFill>
                  <a:srgbClr val="687086"/>
                </a:solidFill>
              </a:rPr>
              <a:t>확인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87452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1EA"/>
            </a:solidFill>
            <a:prstDash val="solid"/>
          </a:ln>
          <a:effectLst>
            <a:outerShdw blurRad="12700" dist="50800" dir="2700000" algn="bl" rotWithShape="0">
              <a:srgbClr val="B7BDCC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85800" y="1874520"/>
            <a:ext cx="64008" cy="1234440"/>
          </a:xfrm>
          <a:prstGeom prst="rect">
            <a:avLst/>
          </a:prstGeom>
          <a:solidFill>
            <a:srgbClr val="2D7FF9"/>
          </a:solidFill>
          <a:ln w="12700">
            <a:solidFill>
              <a:srgbClr val="2D7F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14400" y="203911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B33"/>
                </a:solidFill>
              </a:rPr>
              <a:t>✓ 검색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404872"/>
            <a:ext cx="294436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0263A"/>
                </a:solidFill>
              </a:rPr>
              <a:t>전문 도메인 결과가 나오고 원본 URL이 포함되는가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89120" y="187452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1EA"/>
            </a:solidFill>
            <a:prstDash val="solid"/>
          </a:ln>
          <a:effectLst>
            <a:outerShdw blurRad="12700" dist="50800" dir="2700000" algn="bl" rotWithShape="0">
              <a:srgbClr val="B7BDCC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389120" y="1874520"/>
            <a:ext cx="64008" cy="1234440"/>
          </a:xfrm>
          <a:prstGeom prst="rect">
            <a:avLst/>
          </a:prstGeom>
          <a:solidFill>
            <a:srgbClr val="37C99B"/>
          </a:solidFill>
          <a:ln w="12700">
            <a:solidFill>
              <a:srgbClr val="37C99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617720" y="203911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B33"/>
                </a:solidFill>
              </a:rPr>
              <a:t>✓ 개인화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17720" y="2404872"/>
            <a:ext cx="294436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0263A"/>
                </a:solidFill>
              </a:rPr>
              <a:t>전공·관심 분야·지역·혜택이 추천 이유에 반영되는가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92440" y="187452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1EA"/>
            </a:solidFill>
            <a:prstDash val="solid"/>
          </a:ln>
          <a:effectLst>
            <a:outerShdw blurRad="12700" dist="50800" dir="2700000" algn="bl" rotWithShape="0">
              <a:srgbClr val="B7BDCC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8092440" y="1874520"/>
            <a:ext cx="64008" cy="1234440"/>
          </a:xfrm>
          <a:prstGeom prst="rect">
            <a:avLst/>
          </a:prstGeom>
          <a:solidFill>
            <a:srgbClr val="5B5FEF"/>
          </a:solidFill>
          <a:ln w="12700">
            <a:solidFill>
              <a:srgbClr val="5B5F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321040" y="203911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B33"/>
                </a:solidFill>
              </a:rPr>
              <a:t>✓ 스킬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21040" y="2404872"/>
            <a:ext cx="294436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0263A"/>
                </a:solidFill>
              </a:rPr>
              <a:t>질문 유형에 맞는 SKILL.md가 로딩되는가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85800" y="342900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1EA"/>
            </a:solidFill>
            <a:prstDash val="solid"/>
          </a:ln>
          <a:effectLst>
            <a:outerShdw blurRad="12700" dist="50800" dir="2700000" algn="bl" rotWithShape="0">
              <a:srgbClr val="B7BDCC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685800" y="3429000"/>
            <a:ext cx="64008" cy="12344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914400" y="359359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B33"/>
                </a:solidFill>
              </a:rPr>
              <a:t>✓ 분석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3959352"/>
            <a:ext cx="294436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0263A"/>
                </a:solidFill>
              </a:rPr>
              <a:t>정렬·D-day 계산이 입력 데이터와 일치하는가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389120" y="342900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1EA"/>
            </a:solidFill>
            <a:prstDash val="solid"/>
          </a:ln>
          <a:effectLst>
            <a:outerShdw blurRad="12700" dist="50800" dir="2700000" algn="bl" rotWithShape="0">
              <a:srgbClr val="B7BDCC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4389120" y="3429000"/>
            <a:ext cx="64008" cy="1234440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617720" y="359359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B33"/>
                </a:solidFill>
              </a:rPr>
              <a:t>✓ 파일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617720" y="3959352"/>
            <a:ext cx="294436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0263A"/>
                </a:solidFill>
              </a:rPr>
              <a:t>파일 생성 후 workspace에서 다시 읽을 수 있는가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092440" y="342900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1EA"/>
            </a:solidFill>
            <a:prstDash val="solid"/>
          </a:ln>
          <a:effectLst>
            <a:outerShdw blurRad="12700" dist="50800" dir="2700000" algn="bl" rotWithShape="0">
              <a:srgbClr val="B7BDCC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8092440" y="3429000"/>
            <a:ext cx="64008" cy="1234440"/>
          </a:xfrm>
          <a:prstGeom prst="rect">
            <a:avLst/>
          </a:prstGeom>
          <a:solidFill>
            <a:srgbClr val="37C99B"/>
          </a:solidFill>
          <a:ln w="12700">
            <a:solidFill>
              <a:srgbClr val="37C99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8321040" y="359359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B33"/>
                </a:solidFill>
              </a:rPr>
              <a:t>✓ 백업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321040" y="3959352"/>
            <a:ext cx="294436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0263A"/>
                </a:solidFill>
              </a:rPr>
              <a:t>수정 전에 backup/파일명_타임스탬프가 생성되는가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60120" y="5413248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198A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9436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5B5FEF"/>
                </a:solidFill>
              </a:rPr>
              <a:t>12 · CONCLUSION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1B33"/>
                </a:solidFill>
              </a:rPr>
              <a:t>검색 도구를 넘어 “지원 의사결정”을 돕는 Agent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" y="139903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87086"/>
                </a:solidFill>
              </a:rPr>
              <a:t>프로젝트의 핵심 파일들이 하나의 실행 파이프라인을 완성함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053046" y="2148840"/>
            <a:ext cx="1371600" cy="1371600"/>
          </a:xfrm>
          <a:prstGeom prst="ellipse">
            <a:avLst/>
          </a:prstGeom>
          <a:solidFill>
            <a:srgbClr val="2D7FF9"/>
          </a:solidFill>
          <a:ln w="12700">
            <a:solidFill>
              <a:srgbClr val="2D7F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2053046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67246" y="3749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51B33"/>
                </a:solidFill>
              </a:rPr>
              <a:t>FIND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67246" y="42062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600" dirty="0"/>
              <a:t>대외활동 사이트와 일반 웹에서 관련 공고와 출처 링크 탐색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390606" y="2148840"/>
            <a:ext cx="1371600" cy="1371600"/>
          </a:xfrm>
          <a:prstGeom prst="ellipse">
            <a:avLst/>
          </a:prstGeom>
          <a:solidFill>
            <a:srgbClr val="5B5FEF"/>
          </a:solidFill>
          <a:ln w="12700">
            <a:solidFill>
              <a:srgbClr val="5B5F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390606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704806" y="3749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51B33"/>
                </a:solidFill>
              </a:rPr>
              <a:t>MATCH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704806" y="42062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600" dirty="0"/>
              <a:t>사용자가 제시한 조건과 혜택을 기준으로 후보 비교 및 추천 이유 제공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728166" y="2148840"/>
            <a:ext cx="1371600" cy="1371600"/>
          </a:xfrm>
          <a:prstGeom prst="ellipse">
            <a:avLst/>
          </a:prstGeom>
          <a:solidFill>
            <a:srgbClr val="37C99B"/>
          </a:solidFill>
          <a:ln w="12700">
            <a:solidFill>
              <a:srgbClr val="37C99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8728166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042366" y="3749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51B33"/>
                </a:solidFill>
              </a:rPr>
              <a:t>ACT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042366" y="42062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600" dirty="0"/>
              <a:t>분석 결과를 정리</a:t>
            </a:r>
            <a:r>
              <a:rPr lang="en-US" altLang="ko-KR" sz="1600" dirty="0"/>
              <a:t>, </a:t>
            </a:r>
            <a:r>
              <a:rPr lang="ko-KR" altLang="en-US" sz="1600" dirty="0"/>
              <a:t>저장하고 파일 수정 전 백업 수행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973286" y="2679192"/>
            <a:ext cx="411480" cy="301752"/>
          </a:xfrm>
          <a:prstGeom prst="chevron">
            <a:avLst/>
          </a:prstGeom>
          <a:solidFill>
            <a:srgbClr val="C9CEE0"/>
          </a:solidFill>
          <a:ln w="12700">
            <a:solidFill>
              <a:srgbClr val="C9CE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7310846" y="2679192"/>
            <a:ext cx="411480" cy="301752"/>
          </a:xfrm>
          <a:prstGeom prst="chevron">
            <a:avLst/>
          </a:prstGeom>
          <a:solidFill>
            <a:srgbClr val="C9CEE0"/>
          </a:solidFill>
          <a:ln w="12700">
            <a:solidFill>
              <a:srgbClr val="C9CE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709160" y="58704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51B33"/>
                </a:solidFill>
              </a:rPr>
              <a:t>Q &amp; 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198A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1588</Words>
  <Application>Microsoft Office PowerPoint</Application>
  <PresentationFormat>와이드스크린</PresentationFormat>
  <Paragraphs>312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7" baseType="lpstr">
      <vt:lpstr>Aptos</vt:lpstr>
      <vt:lpstr>Arial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SMU AI Training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대외활동·공모전 맞춤 추천 AI Agent</dc:title>
  <dc:subject>대외활동·공모전 통합 탐색 및 맞춤 추천 AI Agent</dc:subject>
  <dc:creator>SMU Agent Project Team</dc:creator>
  <cp:lastModifiedBy>최재영</cp:lastModifiedBy>
  <cp:revision>28</cp:revision>
  <dcterms:created xsi:type="dcterms:W3CDTF">2026-08-28T07:00:50Z</dcterms:created>
  <dcterms:modified xsi:type="dcterms:W3CDTF">2026-08-31T02:33:31Z</dcterms:modified>
</cp:coreProperties>
</file>